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76" r:id="rId5"/>
    <p:sldId id="277" r:id="rId6"/>
    <p:sldId id="275" r:id="rId7"/>
    <p:sldId id="259" r:id="rId8"/>
    <p:sldId id="278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79" r:id="rId19"/>
    <p:sldId id="269" r:id="rId20"/>
    <p:sldId id="280" r:id="rId21"/>
    <p:sldId id="274" r:id="rId22"/>
    <p:sldId id="270" r:id="rId23"/>
    <p:sldId id="271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5d22d5757e9d3d3/Desktop/Fernanda%20Olvera/Master/Semanas/5to%20Tetra/Modulo%201/Semana%203/entregados/1.%20Viabilidad_Economica_I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5d22d5757e9d3d3/Desktop/Fernanda%20Olvera/Master/Semanas/5to%20Tetra/Modulo%201/Semana%203/entregados/1.%20Viabilidad_Economica_I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[1. Viabilidad_Economica_IA.xlsx]Beneficios!TablaDinámica30</c:name>
    <c:fmtId val="-1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6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MX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MX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MX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Beneficios!$N$5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Beneficios!$M$6:$M$12</c:f>
              <c:multiLvlStrCache>
                <c:ptCount val="5"/>
                <c:lvl>
                  <c:pt idx="0">
                    <c:v>Disminución de horas hombre (240 h × $125 MXN/h)</c:v>
                  </c:pt>
                  <c:pt idx="1">
                    <c:v>Mejora en flujo de efectivo</c:v>
                  </c:pt>
                  <c:pt idx="2">
                    <c:v>Reducción de cartera vencida (0.1–.3%)</c:v>
                  </c:pt>
                  <c:pt idx="3">
                    <c:v>Reducción de costos operativos</c:v>
                  </c:pt>
                  <c:pt idx="4">
                    <c:v>Reducción de errores/retrabajo</c:v>
                  </c:pt>
                </c:lvl>
                <c:lvl>
                  <c:pt idx="0">
                    <c:v>Tangibles</c:v>
                  </c:pt>
                </c:lvl>
              </c:multiLvlStrCache>
            </c:multiLvlStrRef>
          </c:cat>
          <c:val>
            <c:numRef>
              <c:f>Beneficios!$N$6:$N$12</c:f>
              <c:numCache>
                <c:formatCode>_("$"* #,##0.00_);_("$"* \(#,##0.00\);_("$"* "-"??_);_(@_)</c:formatCode>
                <c:ptCount val="5"/>
                <c:pt idx="0">
                  <c:v>180000</c:v>
                </c:pt>
                <c:pt idx="1">
                  <c:v>3000000</c:v>
                </c:pt>
                <c:pt idx="2">
                  <c:v>5000000</c:v>
                </c:pt>
                <c:pt idx="3">
                  <c:v>2000000</c:v>
                </c:pt>
                <c:pt idx="4">
                  <c:v>500000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30-422C-A811-9BFCC09D39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44041295"/>
        <c:axId val="1344041711"/>
      </c:barChart>
      <c:catAx>
        <c:axId val="1344041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344041711"/>
        <c:crosses val="autoZero"/>
        <c:auto val="1"/>
        <c:lblAlgn val="ctr"/>
        <c:lblOffset val="100"/>
        <c:noMultiLvlLbl val="0"/>
      </c:catAx>
      <c:valAx>
        <c:axId val="13440417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.00_);_(&quot;$&quot;* \(#,##0.00\);_(&quot;$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3440412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50" b="1"/>
      </a:pPr>
      <a:endParaRPr lang="es-MX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[1. Viabilidad_Economica_IA.xlsx]Costos!TablaDinámica15</c:name>
    <c:fmtId val="-1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MX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MX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MX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Costos!$P$6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Costos!$O$7:$O$14</c:f>
              <c:strCache>
                <c:ptCount val="7"/>
                <c:pt idx="0">
                  <c:v>Datos</c:v>
                </c:pt>
                <c:pt idx="1">
                  <c:v>Herramientas y Licencias</c:v>
                </c:pt>
                <c:pt idx="2">
                  <c:v>Implementación</c:v>
                </c:pt>
                <c:pt idx="3">
                  <c:v>Infraestructura</c:v>
                </c:pt>
                <c:pt idx="4">
                  <c:v>Mantenimiento </c:v>
                </c:pt>
                <c:pt idx="5">
                  <c:v>Otros</c:v>
                </c:pt>
                <c:pt idx="6">
                  <c:v>Talento Humano</c:v>
                </c:pt>
              </c:strCache>
            </c:strRef>
          </c:cat>
          <c:val>
            <c:numRef>
              <c:f>Costos!$P$7:$P$14</c:f>
              <c:numCache>
                <c:formatCode>_("$"* #,##0.00_);_("$"* \(#,##0.00\);_("$"* "-"??_);_(@_)</c:formatCode>
                <c:ptCount val="7"/>
                <c:pt idx="0">
                  <c:v>29200</c:v>
                </c:pt>
                <c:pt idx="1">
                  <c:v>47200</c:v>
                </c:pt>
                <c:pt idx="2">
                  <c:v>388000</c:v>
                </c:pt>
                <c:pt idx="3">
                  <c:v>26200</c:v>
                </c:pt>
                <c:pt idx="4">
                  <c:v>32500</c:v>
                </c:pt>
                <c:pt idx="5">
                  <c:v>332000</c:v>
                </c:pt>
                <c:pt idx="6">
                  <c:v>918000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23-4263-B105-CC82AB6570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74134799"/>
        <c:axId val="1474135215"/>
      </c:barChart>
      <c:catAx>
        <c:axId val="14741347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474135215"/>
        <c:crosses val="autoZero"/>
        <c:auto val="1"/>
        <c:lblAlgn val="ctr"/>
        <c:lblOffset val="100"/>
        <c:noMultiLvlLbl val="0"/>
      </c:catAx>
      <c:valAx>
        <c:axId val="14741352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.00_);_(&quot;$&quot;* \(#,##0.00\);_(&quot;$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4741347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es-MX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61A4F-6F83-4B62-ACDA-D431F5D6A37D}" type="datetimeFigureOut">
              <a:rPr lang="es-MX" smtClean="0"/>
              <a:t>02/08/2026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5E6EA5-4451-4863-9E81-B978C73A1F3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9492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E6EA5-4451-4863-9E81-B978C73A1F36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512681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E6EA5-4451-4863-9E81-B978C73A1F36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910175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E6EA5-4451-4863-9E81-B978C73A1F36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60475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E6EA5-4451-4863-9E81-B978C73A1F36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888281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E6EA5-4451-4863-9E81-B978C73A1F36}" type="slidenum">
              <a:rPr lang="es-MX" smtClean="0"/>
              <a:t>21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6241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 rotWithShape="1">
          <a:blip r:embed="rId3"/>
          <a:srcRect l="2455" r="31319"/>
          <a:stretch/>
        </p:blipFill>
        <p:spPr>
          <a:xfrm>
            <a:off x="4610100" y="1957089"/>
            <a:ext cx="2971800" cy="276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37365" y="2561927"/>
            <a:ext cx="5717120" cy="607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784"/>
              </a:lnSpc>
            </a:pPr>
            <a:r>
              <a:rPr sz="4350" b="1" i="0" u="none">
                <a:solidFill>
                  <a:srgbClr val="0F172A"/>
                </a:solidFill>
                <a:latin typeface="Plus Jakarta Sans"/>
              </a:rPr>
              <a:t>Predictive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5000" y="3360092"/>
            <a:ext cx="8382000" cy="271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Transición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a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MLOps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,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Despliegue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de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Modelos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Supervisados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y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Propuesta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de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Escalabilidad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Futura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72012" y="4426892"/>
            <a:ext cx="2847975" cy="221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743"/>
              </a:lnSpc>
            </a:pPr>
            <a:r>
              <a:rPr sz="1125" b="0" i="0" u="none">
                <a:solidFill>
                  <a:srgbClr val="64748B"/>
                </a:solidFill>
                <a:latin typeface="Inter SemiBold"/>
              </a:rPr>
              <a:t>Autora: María Fernanda Olvera Pegueros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758" y="2057400"/>
            <a:ext cx="2618482" cy="276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35492" y="2524125"/>
            <a:ext cx="812101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0F172A"/>
                </a:solidFill>
                <a:latin typeface="Plus Jakarta Sans"/>
              </a:rPr>
              <a:t>Contexto y Objetivo Estratégico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0" y="3533775"/>
            <a:ext cx="76200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476500" y="3800475"/>
            <a:ext cx="7239000" cy="885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Evolución de un modelo experimental hacia una solución de Inteligencia Artificial lista para producción con arquitectura MLOps para optimizar la gestión financiera de cobranza.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8199" y="1787426"/>
            <a:ext cx="8696325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600" b="1" i="0" u="none" dirty="0" err="1">
                <a:solidFill>
                  <a:srgbClr val="334155"/>
                </a:solidFill>
                <a:latin typeface="Inter"/>
              </a:rPr>
              <a:t>Priorización</a:t>
            </a:r>
            <a:r>
              <a:rPr sz="1600" b="1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1" i="0" u="none" dirty="0" err="1">
                <a:solidFill>
                  <a:srgbClr val="334155"/>
                </a:solidFill>
                <a:latin typeface="Inter"/>
              </a:rPr>
              <a:t>Proactiva</a:t>
            </a:r>
            <a:r>
              <a:rPr sz="1600" b="1" i="0" u="none" dirty="0">
                <a:solidFill>
                  <a:srgbClr val="334155"/>
                </a:solidFill>
                <a:latin typeface="Inter"/>
              </a:rPr>
              <a:t>: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Identificación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anticipada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clientes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con mayor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probabilidad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atraso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para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enfocar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esfuerzos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gestión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594929"/>
            <a:ext cx="8953500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600" b="1" i="0" u="none" dirty="0" err="1">
                <a:solidFill>
                  <a:srgbClr val="334155"/>
                </a:solidFill>
                <a:latin typeface="Inter"/>
              </a:rPr>
              <a:t>Estimación</a:t>
            </a:r>
            <a:r>
              <a:rPr sz="1600" b="1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600" b="1" i="0" u="none" dirty="0" err="1">
                <a:solidFill>
                  <a:srgbClr val="334155"/>
                </a:solidFill>
                <a:latin typeface="Inter"/>
              </a:rPr>
              <a:t>Recuperación</a:t>
            </a:r>
            <a:r>
              <a:rPr sz="1600" b="1" i="0" u="none" dirty="0">
                <a:solidFill>
                  <a:srgbClr val="334155"/>
                </a:solidFill>
                <a:latin typeface="Inter"/>
              </a:rPr>
              <a:t>: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Pronóstico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cuantitativo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del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monto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esperado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a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recuperar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en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facturas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pendientes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pago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199" y="3429001"/>
            <a:ext cx="8486775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600" b="1" i="0" u="none" dirty="0">
                <a:solidFill>
                  <a:srgbClr val="334155"/>
                </a:solidFill>
                <a:latin typeface="Inter"/>
              </a:rPr>
              <a:t>Variables </a:t>
            </a:r>
            <a:r>
              <a:rPr sz="1600" b="1" i="0" u="none" dirty="0" err="1">
                <a:solidFill>
                  <a:srgbClr val="334155"/>
                </a:solidFill>
                <a:latin typeface="Inter"/>
              </a:rPr>
              <a:t>Financieras</a:t>
            </a:r>
            <a:r>
              <a:rPr sz="1600" b="1" i="0" u="none" dirty="0">
                <a:solidFill>
                  <a:srgbClr val="334155"/>
                </a:solidFill>
                <a:latin typeface="Inter"/>
              </a:rPr>
              <a:t>: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Evaluación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basada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en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monto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factura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, días de mora,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historial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crediticio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y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frecuencia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disputas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4185923"/>
            <a:ext cx="8486774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600" b="1" i="0" u="none" dirty="0">
                <a:solidFill>
                  <a:srgbClr val="334155"/>
                </a:solidFill>
                <a:latin typeface="Inter"/>
              </a:rPr>
              <a:t>Valor de </a:t>
            </a:r>
            <a:r>
              <a:rPr sz="1600" b="1" i="0" u="none" dirty="0" err="1">
                <a:solidFill>
                  <a:srgbClr val="334155"/>
                </a:solidFill>
                <a:latin typeface="Inter"/>
              </a:rPr>
              <a:t>Negocio</a:t>
            </a:r>
            <a:r>
              <a:rPr sz="1600" b="1" i="0" u="none" dirty="0">
                <a:solidFill>
                  <a:srgbClr val="334155"/>
                </a:solidFill>
                <a:latin typeface="Inter"/>
              </a:rPr>
              <a:t>: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Reducción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de la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cartera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vencida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y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soporte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directo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a la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toma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decisiones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financieras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en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el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ciclo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O2C.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768376"/>
            <a:ext cx="85725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25"/>
              </a:lnSpc>
            </a:pPr>
            <a:r>
              <a:rPr sz="1500" b="1" i="0" u="none">
                <a:solidFill>
                  <a:srgbClr val="4F46E5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575879"/>
            <a:ext cx="85725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25"/>
              </a:lnSpc>
            </a:pPr>
            <a:r>
              <a:rPr sz="1500" b="1" i="0" u="none">
                <a:solidFill>
                  <a:srgbClr val="4F46E5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409950"/>
            <a:ext cx="85725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25"/>
              </a:lnSpc>
            </a:pPr>
            <a:r>
              <a:rPr sz="1500" b="1" i="0" u="none" dirty="0">
                <a:solidFill>
                  <a:srgbClr val="4F46E5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166873"/>
            <a:ext cx="85725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25"/>
              </a:lnSpc>
            </a:pPr>
            <a:r>
              <a:rPr sz="1500" b="1" i="0" u="none" dirty="0">
                <a:solidFill>
                  <a:srgbClr val="4F46E5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33400"/>
            <a:ext cx="1152144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 err="1">
                <a:solidFill>
                  <a:srgbClr val="0F172A"/>
                </a:solidFill>
                <a:latin typeface="Plus Jakarta Sans"/>
              </a:rPr>
              <a:t>Solución</a:t>
            </a:r>
            <a:r>
              <a:rPr sz="255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550" b="1" i="0" u="none" dirty="0" err="1">
                <a:solidFill>
                  <a:srgbClr val="0F172A"/>
                </a:solidFill>
                <a:latin typeface="Plus Jakarta Sans"/>
              </a:rPr>
              <a:t>Predictiva</a:t>
            </a:r>
            <a:r>
              <a:rPr sz="2550" b="1" i="0" u="none" dirty="0">
                <a:solidFill>
                  <a:srgbClr val="0F172A"/>
                </a:solidFill>
                <a:latin typeface="Plus Jakarta Sans"/>
              </a:rPr>
              <a:t> de </a:t>
            </a:r>
            <a:r>
              <a:rPr sz="2550" b="1" i="0" u="none" dirty="0" err="1">
                <a:solidFill>
                  <a:srgbClr val="0F172A"/>
                </a:solidFill>
                <a:latin typeface="Plus Jakarta Sans"/>
              </a:rPr>
              <a:t>Cuentas</a:t>
            </a:r>
            <a:r>
              <a:rPr sz="2550" b="1" i="0" u="none" dirty="0">
                <a:solidFill>
                  <a:srgbClr val="0F172A"/>
                </a:solidFill>
                <a:latin typeface="Plus Jakarta Sans"/>
              </a:rPr>
              <a:t> por </a:t>
            </a:r>
            <a:r>
              <a:rPr sz="2550" b="1" i="0" u="none" dirty="0" err="1">
                <a:solidFill>
                  <a:srgbClr val="0F172A"/>
                </a:solidFill>
                <a:latin typeface="Plus Jakarta Sans"/>
              </a:rPr>
              <a:t>Cobrar</a:t>
            </a:r>
            <a:endParaRPr sz="2550" b="1" i="0" u="none" dirty="0">
              <a:solidFill>
                <a:srgbClr val="0F172A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2052637"/>
            <a:ext cx="5257800" cy="3429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3880" y="514932"/>
            <a:ext cx="11521440" cy="16850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ES" sz="2800" b="1" dirty="0"/>
              <a:t>Estimación de inversión para una implementación empresarial</a:t>
            </a:r>
          </a:p>
          <a:p>
            <a:endParaRPr lang="es-ES" sz="2800" b="1" dirty="0"/>
          </a:p>
          <a:p>
            <a:r>
              <a:rPr lang="es-ES" sz="2400" dirty="0"/>
              <a:t>Beneficios estimados del proyecto</a:t>
            </a:r>
          </a:p>
          <a:p>
            <a:pPr algn="l"/>
            <a:endParaRPr sz="255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64943FE-3817-4768-A38F-F21920E78D95}"/>
              </a:ext>
            </a:extLst>
          </p:cNvPr>
          <p:cNvSpPr txBox="1"/>
          <p:nvPr/>
        </p:nvSpPr>
        <p:spPr>
          <a:xfrm>
            <a:off x="259080" y="3609736"/>
            <a:ext cx="617220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s-MX" sz="1600" dirty="0">
                <a:solidFill>
                  <a:srgbClr val="334155"/>
                </a:solidFill>
                <a:latin typeface="Inter"/>
              </a:rPr>
              <a:t>Reducción de cartera vencida: $5,000,000.00 MXN (6 meses)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s-MX" sz="1600" dirty="0">
                <a:solidFill>
                  <a:srgbClr val="334155"/>
                </a:solidFill>
                <a:latin typeface="Inter"/>
              </a:rPr>
              <a:t>Mejora en flujo de efectivo: $3,000,000.00 MXN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s-MX" sz="1600" dirty="0">
                <a:solidFill>
                  <a:srgbClr val="334155"/>
                </a:solidFill>
                <a:latin typeface="Inter"/>
              </a:rPr>
              <a:t>Reducción de costos operativos: $2,000,000.00 MXN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s-MX" sz="1600" dirty="0">
                <a:solidFill>
                  <a:srgbClr val="334155"/>
                </a:solidFill>
                <a:latin typeface="Inter"/>
              </a:rPr>
              <a:t>Disminución de horas hombre: $180,000.00 MXN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s-MX" sz="1600" dirty="0">
                <a:solidFill>
                  <a:srgbClr val="334155"/>
                </a:solidFill>
                <a:latin typeface="Inter"/>
              </a:rPr>
              <a:t>Reducción de errores/retrabajo: $500,000.00 MXN</a:t>
            </a:r>
          </a:p>
          <a:p>
            <a:pPr lvl="0"/>
            <a:endParaRPr lang="es-MX" b="1" dirty="0">
              <a:solidFill>
                <a:srgbClr val="334155"/>
              </a:solidFill>
              <a:latin typeface="Inter"/>
            </a:endParaRPr>
          </a:p>
          <a:p>
            <a:pPr lvl="0"/>
            <a:r>
              <a:rPr lang="es-MX" b="1" dirty="0">
                <a:solidFill>
                  <a:srgbClr val="334155"/>
                </a:solidFill>
                <a:latin typeface="Inter"/>
              </a:rPr>
              <a:t>Total tangibles: $10,680,000.00 MXN (6 meses)</a:t>
            </a:r>
            <a:br>
              <a:rPr lang="es-MX" dirty="0">
                <a:solidFill>
                  <a:srgbClr val="334155"/>
                </a:solidFill>
                <a:latin typeface="Inter"/>
              </a:rPr>
            </a:br>
            <a:endParaRPr lang="es-MX" dirty="0">
              <a:solidFill>
                <a:srgbClr val="334155"/>
              </a:solidFill>
              <a:latin typeface="Inter"/>
            </a:endParaRPr>
          </a:p>
        </p:txBody>
      </p:sp>
      <p:graphicFrame>
        <p:nvGraphicFramePr>
          <p:cNvPr id="18" name="Gráfico 17">
            <a:extLst>
              <a:ext uri="{FF2B5EF4-FFF2-40B4-BE49-F238E27FC236}">
                <a16:creationId xmlns:a16="http://schemas.microsoft.com/office/drawing/2014/main" id="{A7C006B2-09E9-432C-A839-1859CD1E3E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6111761"/>
              </p:ext>
            </p:extLst>
          </p:nvPr>
        </p:nvGraphicFramePr>
        <p:xfrm>
          <a:off x="5867402" y="1235747"/>
          <a:ext cx="5501638" cy="35682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426923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601" y="2052637"/>
            <a:ext cx="5708799" cy="372313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533400"/>
            <a:ext cx="11521440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ES" sz="2400" b="1" dirty="0"/>
              <a:t>Estimación de inversión para una implementación empresarial</a:t>
            </a:r>
          </a:p>
          <a:p>
            <a:pPr algn="l"/>
            <a:endParaRPr lang="es-MX" sz="2550" b="1" dirty="0">
              <a:solidFill>
                <a:srgbClr val="0F172A"/>
              </a:solidFill>
              <a:latin typeface="Plus Jakarta Sans"/>
            </a:endParaRPr>
          </a:p>
          <a:p>
            <a:pPr algn="l"/>
            <a:r>
              <a:rPr lang="es-MX" sz="2400" i="0" u="none" dirty="0">
                <a:solidFill>
                  <a:srgbClr val="0F172A"/>
                </a:solidFill>
                <a:latin typeface="Plus Jakarta Sans"/>
              </a:rPr>
              <a:t>Costos del proyecto</a:t>
            </a:r>
            <a:endParaRPr sz="2400" i="0" u="none" dirty="0">
              <a:solidFill>
                <a:srgbClr val="0F172A"/>
              </a:solidFill>
              <a:latin typeface="Plus Jakarta Sans"/>
            </a:endParaRPr>
          </a:p>
        </p:txBody>
      </p:sp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44EBF7A5-BE01-4752-AC4E-77F9DF73B6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786896"/>
              </p:ext>
            </p:extLst>
          </p:nvPr>
        </p:nvGraphicFramePr>
        <p:xfrm>
          <a:off x="726061" y="2284376"/>
          <a:ext cx="4795063" cy="30978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76435">
                  <a:extLst>
                    <a:ext uri="{9D8B030D-6E8A-4147-A177-3AD203B41FA5}">
                      <a16:colId xmlns:a16="http://schemas.microsoft.com/office/drawing/2014/main" val="2918723194"/>
                    </a:ext>
                  </a:extLst>
                </a:gridCol>
                <a:gridCol w="2218628">
                  <a:extLst>
                    <a:ext uri="{9D8B030D-6E8A-4147-A177-3AD203B41FA5}">
                      <a16:colId xmlns:a16="http://schemas.microsoft.com/office/drawing/2014/main" val="403848207"/>
                    </a:ext>
                  </a:extLst>
                </a:gridCol>
              </a:tblGrid>
              <a:tr h="74802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600" dirty="0">
                          <a:effectLst/>
                        </a:rPr>
                        <a:t>Etiquetas de fila</a:t>
                      </a:r>
                      <a:endParaRPr lang="es-MX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600" dirty="0">
                          <a:effectLst/>
                        </a:rPr>
                        <a:t> Suma de Total </a:t>
                      </a:r>
                      <a:endParaRPr lang="es-MX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711527509"/>
                  </a:ext>
                </a:extLst>
              </a:tr>
              <a:tr h="26953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400">
                          <a:effectLst/>
                        </a:rPr>
                        <a:t>Datos</a:t>
                      </a:r>
                      <a:endParaRPr lang="es-MX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400">
                          <a:effectLst/>
                        </a:rPr>
                        <a:t> $29,200</a:t>
                      </a:r>
                      <a:endParaRPr lang="es-MX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441286970"/>
                  </a:ext>
                </a:extLst>
              </a:tr>
              <a:tr h="37702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400">
                          <a:effectLst/>
                        </a:rPr>
                        <a:t>Herramientas y Licencias</a:t>
                      </a:r>
                      <a:endParaRPr lang="es-MX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400">
                          <a:effectLst/>
                        </a:rPr>
                        <a:t> $47,200</a:t>
                      </a:r>
                      <a:endParaRPr lang="es-MX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883904411"/>
                  </a:ext>
                </a:extLst>
              </a:tr>
              <a:tr h="26953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400">
                          <a:effectLst/>
                        </a:rPr>
                        <a:t>Implementación</a:t>
                      </a:r>
                      <a:endParaRPr lang="es-MX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400">
                          <a:effectLst/>
                        </a:rPr>
                        <a:t> $388,000</a:t>
                      </a:r>
                      <a:endParaRPr lang="es-MX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832301395"/>
                  </a:ext>
                </a:extLst>
              </a:tr>
              <a:tr h="26953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400">
                          <a:effectLst/>
                        </a:rPr>
                        <a:t>Infraestructura</a:t>
                      </a:r>
                      <a:endParaRPr lang="es-MX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400">
                          <a:effectLst/>
                        </a:rPr>
                        <a:t> $26,200</a:t>
                      </a:r>
                      <a:endParaRPr lang="es-MX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441506808"/>
                  </a:ext>
                </a:extLst>
              </a:tr>
              <a:tr h="26953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400">
                          <a:effectLst/>
                        </a:rPr>
                        <a:t>Mantenimiento </a:t>
                      </a:r>
                      <a:endParaRPr lang="es-MX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400" dirty="0">
                          <a:effectLst/>
                        </a:rPr>
                        <a:t> $32,500</a:t>
                      </a:r>
                      <a:endParaRPr lang="es-MX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4165088981"/>
                  </a:ext>
                </a:extLst>
              </a:tr>
              <a:tr h="26953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400">
                          <a:effectLst/>
                        </a:rPr>
                        <a:t>Otros</a:t>
                      </a:r>
                      <a:endParaRPr lang="es-MX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400">
                          <a:effectLst/>
                        </a:rPr>
                        <a:t> $332,000</a:t>
                      </a:r>
                      <a:endParaRPr lang="es-MX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790513299"/>
                  </a:ext>
                </a:extLst>
              </a:tr>
              <a:tr h="26953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400">
                          <a:effectLst/>
                        </a:rPr>
                        <a:t>Talento Humano</a:t>
                      </a:r>
                      <a:endParaRPr lang="es-MX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400">
                          <a:effectLst/>
                        </a:rPr>
                        <a:t> $918,000</a:t>
                      </a:r>
                      <a:endParaRPr lang="es-MX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769461026"/>
                  </a:ext>
                </a:extLst>
              </a:tr>
              <a:tr h="35559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400">
                          <a:effectLst/>
                        </a:rPr>
                        <a:t>Total general</a:t>
                      </a:r>
                      <a:endParaRPr lang="es-MX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400" dirty="0">
                          <a:effectLst/>
                        </a:rPr>
                        <a:t> $1,773,100.00</a:t>
                      </a:r>
                      <a:r>
                        <a:rPr lang="es-MX" sz="2000" dirty="0">
                          <a:effectLst/>
                        </a:rPr>
                        <a:t> </a:t>
                      </a:r>
                      <a:r>
                        <a:rPr lang="es-MX" sz="1400" dirty="0">
                          <a:effectLst/>
                        </a:rPr>
                        <a:t>MXN </a:t>
                      </a:r>
                      <a:endParaRPr lang="es-MX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221770063"/>
                  </a:ext>
                </a:extLst>
              </a:tr>
            </a:tbl>
          </a:graphicData>
        </a:graphic>
      </p:graphicFrame>
      <p:graphicFrame>
        <p:nvGraphicFramePr>
          <p:cNvPr id="15" name="Gráfico 14">
            <a:extLst>
              <a:ext uri="{FF2B5EF4-FFF2-40B4-BE49-F238E27FC236}">
                <a16:creationId xmlns:a16="http://schemas.microsoft.com/office/drawing/2014/main" id="{4DB95379-DAC8-4661-A6E7-992BEB5169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1026327"/>
              </p:ext>
            </p:extLst>
          </p:nvPr>
        </p:nvGraphicFramePr>
        <p:xfrm>
          <a:off x="6314122" y="1952627"/>
          <a:ext cx="4570095" cy="2733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69707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2D5D4D57-A138-4426-B71B-4D4DF6E4200B}"/>
              </a:ext>
            </a:extLst>
          </p:cNvPr>
          <p:cNvPicPr/>
          <p:nvPr/>
        </p:nvPicPr>
        <p:blipFill rotWithShape="1">
          <a:blip r:embed="rId2"/>
          <a:srcRect b="31630"/>
          <a:stretch/>
        </p:blipFill>
        <p:spPr>
          <a:xfrm>
            <a:off x="708660" y="762318"/>
            <a:ext cx="10549890" cy="216185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03228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451496"/>
            <a:ext cx="3479750" cy="263128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6050" y="2451496"/>
            <a:ext cx="3479750" cy="263128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2500" y="2451496"/>
            <a:ext cx="3479750" cy="263128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2727721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5825" y="3375421"/>
            <a:ext cx="307366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lus Jakarta Sans SemiBold"/>
              </a:rPr>
              <a:t>1. Ingesta y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737371"/>
            <a:ext cx="2927300" cy="94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Procesamiento del dataset financiero con Pandas. Preparación de variables clave y pipeline automatizado en src/train_models.py.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2275" y="2727721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32275" y="3375421"/>
            <a:ext cx="307366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1E293B"/>
                </a:solidFill>
                <a:latin typeface="Plus Jakarta Sans SemiBold"/>
              </a:rPr>
              <a:t>2. </a:t>
            </a:r>
            <a:r>
              <a:rPr sz="1650" b="0" i="0" u="none" dirty="0" err="1">
                <a:solidFill>
                  <a:srgbClr val="1E293B"/>
                </a:solidFill>
                <a:latin typeface="Plus Jakarta Sans SemiBold"/>
              </a:rPr>
              <a:t>MLflow</a:t>
            </a:r>
            <a:r>
              <a:rPr sz="1650" b="0" i="0" u="none" dirty="0">
                <a:solidFill>
                  <a:srgbClr val="1E293B"/>
                </a:solidFill>
                <a:latin typeface="Plus Jakarta Sans SemiBold"/>
              </a:rPr>
              <a:t> &amp; </a:t>
            </a:r>
            <a:r>
              <a:rPr sz="1650" b="0" i="0" u="none" dirty="0" err="1">
                <a:solidFill>
                  <a:srgbClr val="1E293B"/>
                </a:solidFill>
                <a:latin typeface="Plus Jakarta Sans SemiBold"/>
              </a:rPr>
              <a:t>GitOps</a:t>
            </a:r>
            <a:endParaRPr sz="1650" b="0" i="0" u="none" dirty="0">
              <a:solidFill>
                <a:srgbClr val="1E293B"/>
              </a:solidFill>
              <a:latin typeface="Plus Jakarta Sans Semi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32275" y="3737371"/>
            <a:ext cx="2927300" cy="954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Seguimiento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experimental con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MLflow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(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mlruns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/).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Versionamiento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código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en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GitHub y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almacenamiento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serializado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modelos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.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pkl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8725" y="2727721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78725" y="3375421"/>
            <a:ext cx="307366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lus Jakarta Sans SemiBold"/>
              </a:rPr>
              <a:t>3. API &amp; Monitoreo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8725" y="3737371"/>
            <a:ext cx="2927300" cy="94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Exposición de endpoints con FastAPI en Docker. Auditoría continua y detección de Data Drift mediante monitor_dataset.py.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412" y="2842021"/>
            <a:ext cx="200025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6575" y="2842021"/>
            <a:ext cx="22860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64450" y="2842021"/>
            <a:ext cx="28575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533400"/>
            <a:ext cx="1152144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Arquitectura del Pipeline de Machine Learning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9025527-26AF-4073-98E5-1951B5DA8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11" y="1710539"/>
            <a:ext cx="7911464" cy="216796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EAB090D-769C-40C3-9D3E-84003D6151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2158"/>
          <a:stretch/>
        </p:blipFill>
        <p:spPr>
          <a:xfrm>
            <a:off x="719047" y="4256848"/>
            <a:ext cx="8750382" cy="167722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7587A0D-E875-41C7-BA34-0312E68B00D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225" r="57316" b="13190"/>
          <a:stretch/>
        </p:blipFill>
        <p:spPr>
          <a:xfrm>
            <a:off x="8963025" y="379125"/>
            <a:ext cx="3228975" cy="387772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62186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993701"/>
            <a:ext cx="10972800" cy="3546723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9125" y="2003226"/>
          <a:ext cx="10953749" cy="35276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6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161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1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945"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 err="1">
                          <a:solidFill>
                            <a:srgbClr val="0F172A"/>
                          </a:solidFill>
                          <a:latin typeface="Plus Jakarta Sans"/>
                        </a:rPr>
                        <a:t>Atributo</a:t>
                      </a:r>
                      <a:endParaRPr sz="1125" b="1" i="0" u="none" dirty="0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Modelo de Clasificación (Riesgo)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Modelo de Regresión (Recuperación)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94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Objetivo Principal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Categorizar clientes según nivel de riesgo (Alto, Medio, Bajo).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Estimar el monto exacto de recuperación financiera esperada.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94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Algoritmo Utilizado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Regresión</a:t>
                      </a:r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12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Logística</a:t>
                      </a:r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(Logistic Regression)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Regresión Lineal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94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División de Datos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80% </a:t>
                      </a:r>
                      <a:r>
                        <a:rPr sz="12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Entrenamiento</a:t>
                      </a:r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/ 20% </a:t>
                      </a:r>
                      <a:r>
                        <a:rPr sz="12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Prueba</a:t>
                      </a:r>
                      <a:endParaRPr sz="120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80% </a:t>
                      </a:r>
                      <a:r>
                        <a:rPr sz="12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Entrenamiento</a:t>
                      </a:r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/ 20% </a:t>
                      </a:r>
                      <a:r>
                        <a:rPr sz="12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Prueba</a:t>
                      </a:r>
                      <a:endParaRPr sz="120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945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Métricas</a:t>
                      </a:r>
                      <a:r>
                        <a:rPr sz="120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de </a:t>
                      </a:r>
                      <a:r>
                        <a:rPr sz="1200" b="1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Evaluación</a:t>
                      </a:r>
                      <a:endParaRPr sz="1200" b="1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Accuracy, F1-Score, </a:t>
                      </a:r>
                      <a:r>
                        <a:rPr sz="12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Matriz</a:t>
                      </a:r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de </a:t>
                      </a:r>
                      <a:r>
                        <a:rPr sz="12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Confusión</a:t>
                      </a:r>
                      <a:endParaRPr sz="120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MSE, RMSE, R² (~0.57), </a:t>
                      </a:r>
                      <a:r>
                        <a:rPr sz="12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Validación</a:t>
                      </a:r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12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Cruzada</a:t>
                      </a:r>
                      <a:endParaRPr sz="120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948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Artefacto Serializado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src/classification_model.pkl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src</a:t>
                      </a:r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/</a:t>
                      </a:r>
                      <a:r>
                        <a:rPr sz="12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regression_model.pkl</a:t>
                      </a:r>
                      <a:endParaRPr sz="120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19125" y="2486620"/>
            <a:ext cx="19664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85591" y="2486620"/>
            <a:ext cx="45161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01780" y="2486620"/>
            <a:ext cx="44710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9125" y="3235225"/>
            <a:ext cx="19664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585591" y="3235225"/>
            <a:ext cx="45161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01780" y="3235225"/>
            <a:ext cx="44710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125" y="3747641"/>
            <a:ext cx="19664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85591" y="3747641"/>
            <a:ext cx="45161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101780" y="3747641"/>
            <a:ext cx="44710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125" y="4260056"/>
            <a:ext cx="19664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85591" y="4260056"/>
            <a:ext cx="45161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101780" y="4260056"/>
            <a:ext cx="44710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9125" y="5008661"/>
            <a:ext cx="19664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585591" y="5008661"/>
            <a:ext cx="45161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101780" y="5008661"/>
            <a:ext cx="44710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9600" y="533400"/>
            <a:ext cx="1152144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Modelos Predictivos Entrenados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" y="175263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533400"/>
            <a:ext cx="552069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Despliegue Inicial en Render Free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09675"/>
            <a:ext cx="552069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lus Jakarta Sans SemiBold"/>
              </a:rPr>
              <a:t>Servicio de Inferencia Contenerizado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037332"/>
            <a:ext cx="52578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s-MX" sz="1600" b="0" i="0" u="none" dirty="0">
                <a:solidFill>
                  <a:srgbClr val="334155"/>
                </a:solidFill>
                <a:latin typeface="Inter"/>
              </a:rPr>
              <a:t>•  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Se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desarrolló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una API REST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utilizando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1" i="0" u="none" dirty="0" err="1">
                <a:solidFill>
                  <a:srgbClr val="334155"/>
                </a:solidFill>
                <a:latin typeface="Inter"/>
              </a:rPr>
              <a:t>FastAPI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(app.py)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empaquetada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en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1" i="0" u="none" dirty="0">
                <a:solidFill>
                  <a:srgbClr val="334155"/>
                </a:solidFill>
                <a:latin typeface="Inter"/>
              </a:rPr>
              <a:t>Docker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y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desplegada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en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Render Free.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847880"/>
            <a:ext cx="52578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600" b="0" i="0" u="none" dirty="0">
                <a:solidFill>
                  <a:srgbClr val="334155"/>
                </a:solidFill>
                <a:latin typeface="Inter"/>
              </a:rPr>
              <a:t>• </a:t>
            </a:r>
            <a:r>
              <a:rPr sz="1600" b="1" i="0" u="none" dirty="0" err="1">
                <a:solidFill>
                  <a:srgbClr val="334155"/>
                </a:solidFill>
                <a:latin typeface="Inter"/>
              </a:rPr>
              <a:t>Rendimiento</a:t>
            </a:r>
            <a:r>
              <a:rPr sz="1600" b="1" i="0" u="none" dirty="0">
                <a:solidFill>
                  <a:srgbClr val="334155"/>
                </a:solidFill>
                <a:latin typeface="Inter"/>
              </a:rPr>
              <a:t> Actual: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Latencia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baja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(~200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ms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) para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consultas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individuales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prueba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816066"/>
            <a:ext cx="5257800" cy="730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600" b="0" i="0" u="none" dirty="0">
                <a:solidFill>
                  <a:srgbClr val="334155"/>
                </a:solidFill>
                <a:latin typeface="Inter"/>
              </a:rPr>
              <a:t>• </a:t>
            </a:r>
            <a:r>
              <a:rPr sz="1600" b="1" i="0" u="none" dirty="0" err="1">
                <a:solidFill>
                  <a:srgbClr val="334155"/>
                </a:solidFill>
                <a:latin typeface="Inter"/>
              </a:rPr>
              <a:t>Limitaciones</a:t>
            </a:r>
            <a:r>
              <a:rPr sz="1600" b="1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1" i="0" u="none" dirty="0" err="1">
                <a:solidFill>
                  <a:srgbClr val="334155"/>
                </a:solidFill>
                <a:latin typeface="Inter"/>
              </a:rPr>
              <a:t>Técnicas</a:t>
            </a:r>
            <a:r>
              <a:rPr sz="1600" b="1" i="0" u="none" dirty="0">
                <a:solidFill>
                  <a:srgbClr val="334155"/>
                </a:solidFill>
                <a:latin typeface="Inter"/>
              </a:rPr>
              <a:t>: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Recursos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acotados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a 0.1 CPU y 512 MB RAM,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carencia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escalado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automático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y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presencia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de "cold start".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263EB46-7EC5-4763-ABEA-25E6A8D355BC}"/>
              </a:ext>
            </a:extLst>
          </p:cNvPr>
          <p:cNvSpPr txBox="1"/>
          <p:nvPr/>
        </p:nvSpPr>
        <p:spPr>
          <a:xfrm>
            <a:off x="609600" y="4661706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u="sng" dirty="0">
                <a:solidFill>
                  <a:srgbClr val="0070C0"/>
                </a:solidFill>
              </a:rPr>
              <a:t>https://mi-api-ar-latest.onrender.com 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504B5CD6-38B0-41A3-9C3B-E242A1BFE61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608" b="2141"/>
          <a:stretch/>
        </p:blipFill>
        <p:spPr>
          <a:xfrm>
            <a:off x="7441912" y="3533775"/>
            <a:ext cx="4784378" cy="3429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75063F15-DC9F-4085-82E5-31C7FDC40D0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583" r="11483" b="4392"/>
          <a:stretch/>
        </p:blipFill>
        <p:spPr>
          <a:xfrm>
            <a:off x="8290560" y="0"/>
            <a:ext cx="3867150" cy="390525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 rotWithShape="1">
          <a:blip r:embed="rId3"/>
          <a:srcRect l="39068" r="3266"/>
          <a:stretch/>
        </p:blipFill>
        <p:spPr>
          <a:xfrm>
            <a:off x="4710112" y="2205037"/>
            <a:ext cx="2009775" cy="276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55570" y="2671762"/>
            <a:ext cx="688086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0F172A"/>
                </a:solidFill>
                <a:latin typeface="Plus Jakarta Sans"/>
              </a:rPr>
              <a:t>Escalabilidad de Sistema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0" y="3681412"/>
            <a:ext cx="76200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476500" y="3948112"/>
            <a:ext cx="723900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b="0" i="0" u="none" dirty="0" err="1">
                <a:solidFill>
                  <a:srgbClr val="334155"/>
                </a:solidFill>
                <a:latin typeface="Inter"/>
              </a:rPr>
              <a:t>Propuesta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b="0" i="0" u="none" dirty="0" err="1">
                <a:solidFill>
                  <a:srgbClr val="334155"/>
                </a:solidFill>
                <a:latin typeface="Inter"/>
              </a:rPr>
              <a:t>rediseño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Inter"/>
              </a:rPr>
              <a:t>arquitectónico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, </a:t>
            </a:r>
            <a:r>
              <a:rPr b="0" i="0" u="none" dirty="0" err="1">
                <a:solidFill>
                  <a:srgbClr val="334155"/>
                </a:solidFill>
                <a:latin typeface="Inter"/>
              </a:rPr>
              <a:t>optimización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b="0" i="0" u="none" dirty="0" err="1">
                <a:solidFill>
                  <a:srgbClr val="334155"/>
                </a:solidFill>
                <a:latin typeface="Inter"/>
              </a:rPr>
              <a:t>costos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Inter"/>
              </a:rPr>
              <a:t>en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la </a:t>
            </a:r>
            <a:r>
              <a:rPr b="0" i="0" u="none" dirty="0" err="1">
                <a:solidFill>
                  <a:srgbClr val="334155"/>
                </a:solidFill>
                <a:latin typeface="Inter"/>
              </a:rPr>
              <a:t>nube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y </a:t>
            </a:r>
            <a:r>
              <a:rPr b="0" i="0" u="none" dirty="0" err="1">
                <a:solidFill>
                  <a:srgbClr val="334155"/>
                </a:solidFill>
                <a:latin typeface="Inter"/>
              </a:rPr>
              <a:t>marco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integral de </a:t>
            </a:r>
            <a:r>
              <a:rPr b="0" i="0" u="none" dirty="0" err="1">
                <a:solidFill>
                  <a:srgbClr val="334155"/>
                </a:solidFill>
                <a:latin typeface="Inter"/>
              </a:rPr>
              <a:t>auditoría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Inter"/>
              </a:rPr>
              <a:t>ética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, </a:t>
            </a:r>
            <a:r>
              <a:rPr b="0" i="0" u="none" dirty="0" err="1">
                <a:solidFill>
                  <a:srgbClr val="334155"/>
                </a:solidFill>
                <a:latin typeface="Inter"/>
              </a:rPr>
              <a:t>técnica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y legal para </a:t>
            </a:r>
            <a:r>
              <a:rPr b="0" i="0" u="none" dirty="0" err="1">
                <a:solidFill>
                  <a:srgbClr val="334155"/>
                </a:solidFill>
                <a:latin typeface="Inter"/>
              </a:rPr>
              <a:t>entorno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Inter"/>
              </a:rPr>
              <a:t>productivo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33551"/>
            <a:ext cx="5257800" cy="323358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733551"/>
            <a:ext cx="5257800" cy="32335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144909"/>
            <a:ext cx="486060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u="none" dirty="0" err="1">
                <a:solidFill>
                  <a:srgbClr val="4338CA"/>
                </a:solidFill>
                <a:latin typeface="Plus Jakarta Sans SemiBold"/>
              </a:rPr>
              <a:t>Procesamiento</a:t>
            </a:r>
            <a:r>
              <a:rPr sz="2000" b="0" i="0" u="none" dirty="0">
                <a:solidFill>
                  <a:srgbClr val="4338CA"/>
                </a:solidFill>
                <a:latin typeface="Plus Jakarta Sans SemiBold"/>
              </a:rPr>
              <a:t> Batch </a:t>
            </a:r>
            <a:r>
              <a:rPr sz="2000" b="0" i="0" u="none" dirty="0" err="1">
                <a:solidFill>
                  <a:srgbClr val="4338CA"/>
                </a:solidFill>
                <a:latin typeface="Plus Jakarta Sans SemiBold"/>
              </a:rPr>
              <a:t>Nocturno</a:t>
            </a:r>
            <a:r>
              <a:rPr sz="2000" b="0" i="0" u="none" dirty="0">
                <a:solidFill>
                  <a:srgbClr val="4338CA"/>
                </a:solidFill>
                <a:latin typeface="Plus Jakarta Sans SemiBold"/>
              </a:rPr>
              <a:t> + </a:t>
            </a:r>
            <a:r>
              <a:rPr sz="2000" b="0" i="0" u="none" dirty="0" err="1">
                <a:solidFill>
                  <a:srgbClr val="4338CA"/>
                </a:solidFill>
                <a:latin typeface="Plus Jakarta Sans SemiBold"/>
              </a:rPr>
              <a:t>Caché</a:t>
            </a:r>
            <a:endParaRPr sz="2000" b="0" i="0" u="none" dirty="0">
              <a:solidFill>
                <a:srgbClr val="4338CA"/>
              </a:solidFill>
              <a:latin typeface="Plus Jakarta Sans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23925" y="2878331"/>
            <a:ext cx="4629150" cy="730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600" b="0" i="0" u="none" dirty="0">
                <a:solidFill>
                  <a:srgbClr val="334155"/>
                </a:solidFill>
                <a:latin typeface="Inter"/>
              </a:rPr>
              <a:t>• </a:t>
            </a:r>
            <a:r>
              <a:rPr sz="1600" b="1" i="0" u="none" dirty="0" err="1">
                <a:solidFill>
                  <a:srgbClr val="334155"/>
                </a:solidFill>
                <a:latin typeface="Inter"/>
              </a:rPr>
              <a:t>Inferencia</a:t>
            </a:r>
            <a:r>
              <a:rPr sz="1600" b="1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1" i="0" u="none" dirty="0" err="1">
                <a:solidFill>
                  <a:srgbClr val="334155"/>
                </a:solidFill>
                <a:latin typeface="Inter"/>
              </a:rPr>
              <a:t>Precalculada</a:t>
            </a:r>
            <a:r>
              <a:rPr sz="1600" b="1" i="0" u="none" dirty="0">
                <a:solidFill>
                  <a:srgbClr val="334155"/>
                </a:solidFill>
                <a:latin typeface="Inter"/>
              </a:rPr>
              <a:t>: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Generación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masiva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predicciones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riesgo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y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recuperación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durante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horario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no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pico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829942"/>
            <a:ext cx="4629150" cy="730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600" b="0" i="0" u="none" dirty="0">
                <a:solidFill>
                  <a:srgbClr val="334155"/>
                </a:solidFill>
                <a:latin typeface="Inter"/>
              </a:rPr>
              <a:t>• </a:t>
            </a:r>
            <a:r>
              <a:rPr sz="1600" b="1" i="0" u="none" dirty="0">
                <a:solidFill>
                  <a:srgbClr val="334155"/>
                </a:solidFill>
                <a:latin typeface="Inter"/>
              </a:rPr>
              <a:t>Respuesta </a:t>
            </a:r>
            <a:r>
              <a:rPr sz="1600" b="1" i="0" u="none" dirty="0" err="1">
                <a:solidFill>
                  <a:srgbClr val="334155"/>
                </a:solidFill>
                <a:latin typeface="Inter"/>
              </a:rPr>
              <a:t>Inmediata</a:t>
            </a:r>
            <a:r>
              <a:rPr sz="1600" b="1" i="0" u="none" dirty="0">
                <a:solidFill>
                  <a:srgbClr val="334155"/>
                </a:solidFill>
                <a:latin typeface="Inter"/>
              </a:rPr>
              <a:t>: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Almacenamiento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en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caché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de los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resultados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del día anterior para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acceso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ultrarrápido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sin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sobrecargar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la API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en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tiempo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real.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2144909"/>
            <a:ext cx="486060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u="none" dirty="0" err="1">
                <a:solidFill>
                  <a:srgbClr val="4338CA"/>
                </a:solidFill>
                <a:latin typeface="Plus Jakarta Sans SemiBold"/>
              </a:rPr>
              <a:t>Escalamiento</a:t>
            </a:r>
            <a:r>
              <a:rPr sz="2000" b="0" i="0" u="none" dirty="0">
                <a:solidFill>
                  <a:srgbClr val="4338CA"/>
                </a:solidFill>
                <a:latin typeface="Plus Jakarta Sans SemiBold"/>
              </a:rPr>
              <a:t> Vertical &amp; </a:t>
            </a:r>
            <a:r>
              <a:rPr sz="2000" b="0" i="0" u="none" dirty="0" err="1">
                <a:solidFill>
                  <a:srgbClr val="4338CA"/>
                </a:solidFill>
                <a:latin typeface="Plus Jakarta Sans SemiBold"/>
              </a:rPr>
              <a:t>Eficiencia</a:t>
            </a:r>
            <a:endParaRPr sz="2000" b="0" i="0" u="none" dirty="0">
              <a:solidFill>
                <a:srgbClr val="4338CA"/>
              </a:solidFill>
              <a:latin typeface="Plus Jakarta Sans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38925" y="2878331"/>
            <a:ext cx="4629150" cy="730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600" b="0" i="0" u="none" dirty="0">
                <a:solidFill>
                  <a:srgbClr val="334155"/>
                </a:solidFill>
                <a:latin typeface="Inter"/>
              </a:rPr>
              <a:t>• </a:t>
            </a:r>
            <a:r>
              <a:rPr sz="1600" b="1" i="0" u="none" dirty="0" err="1">
                <a:solidFill>
                  <a:srgbClr val="334155"/>
                </a:solidFill>
                <a:latin typeface="Inter"/>
              </a:rPr>
              <a:t>Instancias</a:t>
            </a:r>
            <a:r>
              <a:rPr sz="1600" b="1" i="0" u="none" dirty="0">
                <a:solidFill>
                  <a:srgbClr val="334155"/>
                </a:solidFill>
                <a:latin typeface="Inter"/>
              </a:rPr>
              <a:t> Más </a:t>
            </a:r>
            <a:r>
              <a:rPr sz="1600" b="1" i="0" u="none" dirty="0" err="1">
                <a:solidFill>
                  <a:srgbClr val="334155"/>
                </a:solidFill>
                <a:latin typeface="Inter"/>
              </a:rPr>
              <a:t>Potentes</a:t>
            </a:r>
            <a:r>
              <a:rPr sz="1600" b="1" i="0" u="none" dirty="0">
                <a:solidFill>
                  <a:srgbClr val="334155"/>
                </a:solidFill>
                <a:latin typeface="Inter"/>
              </a:rPr>
              <a:t>: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Migración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a compute nodes con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capacidad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asignada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para cargas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productivas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intensivas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3829942"/>
            <a:ext cx="4629150" cy="730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600" b="0" i="0" u="none">
                <a:solidFill>
                  <a:srgbClr val="334155"/>
                </a:solidFill>
                <a:latin typeface="Inter"/>
              </a:rPr>
              <a:t>• </a:t>
            </a:r>
            <a:r>
              <a:rPr sz="1600" b="1" i="0" u="none">
                <a:solidFill>
                  <a:srgbClr val="334155"/>
                </a:solidFill>
                <a:latin typeface="Inter"/>
              </a:rPr>
              <a:t>Eliminación de Cold Start:</a:t>
            </a:r>
            <a:r>
              <a:rPr sz="1600" b="0" i="0" u="none">
                <a:solidFill>
                  <a:srgbClr val="334155"/>
                </a:solidFill>
                <a:latin typeface="Inter"/>
              </a:rPr>
              <a:t> Infraestructura persistente optimizada que garantiza cero tiempo de latencia inicial e importantes ahorros operativos.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533400"/>
            <a:ext cx="1152144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Rediseño Propuesto de Arquitectura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279898"/>
            <a:ext cx="10972800" cy="2974478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807420"/>
              </p:ext>
            </p:extLst>
          </p:nvPr>
        </p:nvGraphicFramePr>
        <p:xfrm>
          <a:off x="619125" y="2289423"/>
          <a:ext cx="10953748" cy="2955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43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4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7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06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69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8857">
                <a:tc>
                  <a:txBody>
                    <a:bodyPr/>
                    <a:lstStyle/>
                    <a:p>
                      <a:pPr algn="l"/>
                      <a:r>
                        <a:rPr sz="1800" b="1" i="0" u="none" dirty="0" err="1">
                          <a:solidFill>
                            <a:srgbClr val="0F172A"/>
                          </a:solidFill>
                          <a:latin typeface="Plus Jakarta Sans"/>
                        </a:rPr>
                        <a:t>Proveedor</a:t>
                      </a:r>
                      <a:r>
                        <a:rPr sz="1800" b="1" i="0" u="none" dirty="0">
                          <a:solidFill>
                            <a:srgbClr val="0F172A"/>
                          </a:solidFill>
                          <a:latin typeface="Plus Jakarta Sans"/>
                        </a:rPr>
                        <a:t> </a:t>
                      </a:r>
                      <a:r>
                        <a:rPr sz="1800" b="1" i="0" u="none" dirty="0" err="1">
                          <a:solidFill>
                            <a:srgbClr val="0F172A"/>
                          </a:solidFill>
                          <a:latin typeface="Plus Jakarta Sans"/>
                        </a:rPr>
                        <a:t>Nube</a:t>
                      </a:r>
                      <a:endParaRPr sz="1800" b="1" i="0" u="none" dirty="0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Arquitectura Base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 u="none" dirty="0" err="1">
                          <a:solidFill>
                            <a:srgbClr val="0F172A"/>
                          </a:solidFill>
                          <a:latin typeface="Plus Jakarta Sans"/>
                        </a:rPr>
                        <a:t>Arquitectura</a:t>
                      </a:r>
                      <a:r>
                        <a:rPr sz="1800" b="1" i="0" u="none" dirty="0">
                          <a:solidFill>
                            <a:srgbClr val="0F172A"/>
                          </a:solidFill>
                          <a:latin typeface="Plus Jakarta Sans"/>
                        </a:rPr>
                        <a:t> </a:t>
                      </a:r>
                      <a:r>
                        <a:rPr sz="1800" b="1" i="0" u="none" dirty="0" err="1">
                          <a:solidFill>
                            <a:srgbClr val="0F172A"/>
                          </a:solidFill>
                          <a:latin typeface="Plus Jakarta Sans"/>
                        </a:rPr>
                        <a:t>Optimizada</a:t>
                      </a:r>
                      <a:endParaRPr sz="1800" b="1" i="0" u="none" dirty="0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Ahorro Estimado (%)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 u="none" dirty="0">
                          <a:solidFill>
                            <a:srgbClr val="0F172A"/>
                          </a:solidFill>
                          <a:latin typeface="Plus Jakarta Sans"/>
                        </a:rPr>
                        <a:t>Estado de la </a:t>
                      </a:r>
                      <a:r>
                        <a:rPr sz="1800" b="1" i="0" u="none" dirty="0" err="1">
                          <a:solidFill>
                            <a:srgbClr val="0F172A"/>
                          </a:solidFill>
                          <a:latin typeface="Plus Jakarta Sans"/>
                        </a:rPr>
                        <a:t>Opción</a:t>
                      </a:r>
                      <a:endParaRPr sz="1800" b="1" i="0" u="none" dirty="0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857">
                <a:tc>
                  <a:txBody>
                    <a:bodyPr/>
                    <a:lstStyle/>
                    <a:p>
                      <a:pPr algn="l"/>
                      <a:r>
                        <a:rPr sz="140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AWS (Amazon Web Services)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305</a:t>
                      </a:r>
                      <a:r>
                        <a:rPr lang="es-ES" sz="14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.</a:t>
                      </a:r>
                      <a:r>
                        <a:rPr sz="14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86 USD / </a:t>
                      </a:r>
                      <a:r>
                        <a:rPr sz="14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mes</a:t>
                      </a:r>
                      <a:endParaRPr sz="140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137</a:t>
                      </a:r>
                      <a:r>
                        <a:rPr lang="es-ES" sz="140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.</a:t>
                      </a:r>
                      <a:r>
                        <a:rPr sz="140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31 USD / </a:t>
                      </a:r>
                      <a:r>
                        <a:rPr sz="1400" b="1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mes</a:t>
                      </a:r>
                      <a:endParaRPr sz="1400" b="1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 dirty="0">
                          <a:solidFill>
                            <a:srgbClr val="16A34A"/>
                          </a:solidFill>
                          <a:latin typeface="Inter"/>
                        </a:rPr>
                        <a:t>~55.1% de </a:t>
                      </a:r>
                      <a:r>
                        <a:rPr sz="1400" b="1" i="0" u="none" dirty="0" err="1">
                          <a:solidFill>
                            <a:srgbClr val="16A34A"/>
                          </a:solidFill>
                          <a:latin typeface="Inter"/>
                        </a:rPr>
                        <a:t>ahorro</a:t>
                      </a:r>
                      <a:endParaRPr sz="1400" b="1" i="0" u="none" dirty="0">
                        <a:solidFill>
                          <a:srgbClr val="16A34A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 dirty="0">
                          <a:solidFill>
                            <a:srgbClr val="16A34A"/>
                          </a:solidFill>
                          <a:latin typeface="Inter"/>
                        </a:rPr>
                        <a:t>✔ </a:t>
                      </a:r>
                      <a:r>
                        <a:rPr sz="1400" b="1" i="0" u="none" dirty="0" err="1">
                          <a:solidFill>
                            <a:srgbClr val="16A34A"/>
                          </a:solidFill>
                          <a:latin typeface="Inter"/>
                        </a:rPr>
                        <a:t>Recomendación</a:t>
                      </a:r>
                      <a:r>
                        <a:rPr sz="1400" b="1" i="0" u="none" dirty="0">
                          <a:solidFill>
                            <a:srgbClr val="16A34A"/>
                          </a:solidFill>
                          <a:latin typeface="Inter"/>
                        </a:rPr>
                        <a:t> Final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857">
                <a:tc>
                  <a:txBody>
                    <a:bodyPr/>
                    <a:lstStyle/>
                    <a:p>
                      <a:pPr algn="l"/>
                      <a:r>
                        <a:rPr sz="140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GCP (Google Cloud Platform)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350</a:t>
                      </a:r>
                      <a:r>
                        <a:rPr lang="es-ES" sz="14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.</a:t>
                      </a:r>
                      <a:r>
                        <a:rPr sz="14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34 USD / </a:t>
                      </a:r>
                      <a:r>
                        <a:rPr sz="14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mes</a:t>
                      </a:r>
                      <a:endParaRPr sz="140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173</a:t>
                      </a:r>
                      <a:r>
                        <a:rPr lang="es-ES" sz="140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.</a:t>
                      </a:r>
                      <a:r>
                        <a:rPr sz="140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33 USD / </a:t>
                      </a:r>
                      <a:r>
                        <a:rPr sz="1400" b="1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mes</a:t>
                      </a:r>
                      <a:endParaRPr sz="1400" b="1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 dirty="0">
                          <a:solidFill>
                            <a:srgbClr val="16A34A"/>
                          </a:solidFill>
                          <a:latin typeface="Inter"/>
                        </a:rPr>
                        <a:t>~50.5% de </a:t>
                      </a:r>
                      <a:r>
                        <a:rPr sz="1400" b="1" i="0" u="none" dirty="0" err="1">
                          <a:solidFill>
                            <a:srgbClr val="16A34A"/>
                          </a:solidFill>
                          <a:latin typeface="Inter"/>
                        </a:rPr>
                        <a:t>ahorro</a:t>
                      </a:r>
                      <a:endParaRPr sz="1400" b="1" i="0" u="none" dirty="0">
                        <a:solidFill>
                          <a:srgbClr val="16A34A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334155"/>
                          </a:solidFill>
                          <a:latin typeface="Inter"/>
                        </a:rPr>
                        <a:t>Opción Alternativa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857">
                <a:tc>
                  <a:txBody>
                    <a:bodyPr/>
                    <a:lstStyle/>
                    <a:p>
                      <a:pPr algn="l"/>
                      <a:r>
                        <a:rPr sz="140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Render Free (Actual)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0</a:t>
                      </a:r>
                      <a:r>
                        <a:rPr lang="es-ES" sz="14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.</a:t>
                      </a:r>
                      <a:r>
                        <a:rPr sz="14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00 USD / </a:t>
                      </a:r>
                      <a:r>
                        <a:rPr sz="14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mes</a:t>
                      </a:r>
                      <a:endParaRPr sz="140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N/A (</a:t>
                      </a:r>
                      <a:r>
                        <a:rPr sz="14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Límite</a:t>
                      </a:r>
                      <a:r>
                        <a:rPr sz="14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512MB RAM)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334155"/>
                          </a:solidFill>
                          <a:latin typeface="Inter"/>
                        </a:rPr>
                        <a:t>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 dirty="0">
                          <a:solidFill>
                            <a:srgbClr val="DC2626"/>
                          </a:solidFill>
                          <a:latin typeface="Inter SemiBold"/>
                        </a:rPr>
                        <a:t>Solo </a:t>
                      </a:r>
                      <a:r>
                        <a:rPr sz="1400" b="0" i="0" u="none" dirty="0" err="1">
                          <a:solidFill>
                            <a:srgbClr val="DC2626"/>
                          </a:solidFill>
                          <a:latin typeface="Inter SemiBold"/>
                        </a:rPr>
                        <a:t>Entorno</a:t>
                      </a:r>
                      <a:r>
                        <a:rPr sz="1400" b="0" i="0" u="none" dirty="0">
                          <a:solidFill>
                            <a:srgbClr val="DC2626"/>
                          </a:solidFill>
                          <a:latin typeface="Inter SemiBold"/>
                        </a:rPr>
                        <a:t> de </a:t>
                      </a:r>
                      <a:r>
                        <a:rPr sz="1400" b="0" i="0" u="none" dirty="0" err="1">
                          <a:solidFill>
                            <a:srgbClr val="DC2626"/>
                          </a:solidFill>
                          <a:latin typeface="Inter SemiBold"/>
                        </a:rPr>
                        <a:t>Pruebas</a:t>
                      </a:r>
                      <a:endParaRPr sz="1400" b="0" i="0" u="none" dirty="0">
                        <a:solidFill>
                          <a:srgbClr val="DC2626"/>
                        </a:solidFill>
                        <a:latin typeface="Inter SemiBold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19125" y="2994273"/>
            <a:ext cx="243438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053506" y="2994273"/>
            <a:ext cx="19341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987676" y="2994273"/>
            <a:ext cx="24075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95269" y="2994273"/>
            <a:ext cx="20606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455943" y="2994273"/>
            <a:ext cx="21169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125" y="3742878"/>
            <a:ext cx="243438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053506" y="3742878"/>
            <a:ext cx="19341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987676" y="3742878"/>
            <a:ext cx="24075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95269" y="3742878"/>
            <a:ext cx="20606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455943" y="3742878"/>
            <a:ext cx="21169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125" y="4491483"/>
            <a:ext cx="243438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053506" y="4491483"/>
            <a:ext cx="19341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987676" y="4491483"/>
            <a:ext cx="24075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95269" y="4491483"/>
            <a:ext cx="20606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455943" y="4491483"/>
            <a:ext cx="21169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9600" y="533400"/>
            <a:ext cx="1152144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Análisis de Costos Mensuales Cloud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533400"/>
            <a:ext cx="552069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Auditoría Ética, Técnica y Legal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0"/>
            <a:ext cx="58674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1209675"/>
            <a:ext cx="552069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lus Jakarta Sans SemiBold"/>
              </a:rPr>
              <a:t>Gobernanza y Cumplimiento Normativo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479774"/>
            <a:ext cx="52578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600" b="0" i="0" u="none" dirty="0">
                <a:solidFill>
                  <a:srgbClr val="334155"/>
                </a:solidFill>
                <a:latin typeface="Inter"/>
              </a:rPr>
              <a:t>• </a:t>
            </a:r>
            <a:r>
              <a:rPr sz="1600" b="1" i="0" u="none" dirty="0" err="1">
                <a:solidFill>
                  <a:srgbClr val="334155"/>
                </a:solidFill>
                <a:latin typeface="Inter"/>
              </a:rPr>
              <a:t>Datos</a:t>
            </a:r>
            <a:r>
              <a:rPr sz="1600" b="1" i="0" u="none" dirty="0">
                <a:solidFill>
                  <a:srgbClr val="334155"/>
                </a:solidFill>
                <a:latin typeface="Inter"/>
              </a:rPr>
              <a:t> &amp; Fairness: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Utilización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de dataset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sintético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representativo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,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garantizando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la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eliminación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sesgos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discriminatorios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y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transparencia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algorítmica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761928"/>
            <a:ext cx="5257800" cy="730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s-ES" sz="1600" b="0" i="0" u="none" dirty="0">
                <a:solidFill>
                  <a:srgbClr val="334155"/>
                </a:solidFill>
                <a:latin typeface="Inter"/>
              </a:rPr>
              <a:t>• </a:t>
            </a:r>
            <a:r>
              <a:rPr lang="es-ES" sz="1600" b="1" i="0" u="none" dirty="0">
                <a:solidFill>
                  <a:srgbClr val="334155"/>
                </a:solidFill>
                <a:latin typeface="Inter"/>
              </a:rPr>
              <a:t>Marco Regulatorio:</a:t>
            </a:r>
            <a:r>
              <a:rPr lang="es-ES" sz="1600" b="0" i="0" u="none" dirty="0">
                <a:solidFill>
                  <a:srgbClr val="334155"/>
                </a:solidFill>
                <a:latin typeface="Inter"/>
              </a:rPr>
              <a:t> Alineación estricta con </a:t>
            </a:r>
            <a:r>
              <a:rPr lang="es-ES" sz="1600" b="1" i="0" u="none" dirty="0">
                <a:solidFill>
                  <a:srgbClr val="334155"/>
                </a:solidFill>
                <a:latin typeface="Inter"/>
              </a:rPr>
              <a:t>GDPR</a:t>
            </a:r>
            <a:r>
              <a:rPr lang="es-ES" sz="1600" b="0" i="0" u="none" dirty="0">
                <a:solidFill>
                  <a:srgbClr val="334155"/>
                </a:solidFill>
                <a:latin typeface="Inter"/>
              </a:rPr>
              <a:t>, </a:t>
            </a:r>
            <a:r>
              <a:rPr lang="es-ES" sz="1600" b="1" i="0" u="none" dirty="0">
                <a:solidFill>
                  <a:srgbClr val="334155"/>
                </a:solidFill>
                <a:latin typeface="Inter"/>
              </a:rPr>
              <a:t>LFPDPPP</a:t>
            </a:r>
            <a:r>
              <a:rPr lang="es-ES" sz="1600" b="0" i="0" u="none" dirty="0">
                <a:solidFill>
                  <a:srgbClr val="334155"/>
                </a:solidFill>
                <a:latin typeface="Inter"/>
              </a:rPr>
              <a:t>, normativas </a:t>
            </a:r>
            <a:r>
              <a:rPr lang="es-ES" sz="1600" b="1" i="0" u="none" dirty="0">
                <a:solidFill>
                  <a:srgbClr val="334155"/>
                </a:solidFill>
                <a:latin typeface="Inter"/>
              </a:rPr>
              <a:t>NOM, ISO/IEC 42001 </a:t>
            </a:r>
            <a:r>
              <a:rPr lang="es-ES" sz="1600" i="0" u="none" dirty="0">
                <a:solidFill>
                  <a:srgbClr val="334155"/>
                </a:solidFill>
                <a:latin typeface="Inter"/>
              </a:rPr>
              <a:t>para gestión responsable de IA</a:t>
            </a:r>
            <a:r>
              <a:rPr lang="es-ES" sz="1600" b="1" i="0" u="none" dirty="0">
                <a:solidFill>
                  <a:srgbClr val="334155"/>
                </a:solidFill>
                <a:latin typeface="Inter"/>
              </a:rPr>
              <a:t>.</a:t>
            </a:r>
            <a:r>
              <a:rPr lang="es-ES" sz="1600" b="0" i="0" u="none" dirty="0">
                <a:solidFill>
                  <a:srgbClr val="334155"/>
                </a:solidFill>
                <a:latin typeface="Inter"/>
              </a:rPr>
              <a:t> y el </a:t>
            </a:r>
            <a:r>
              <a:rPr lang="es-ES" sz="1600" b="1" i="0" u="none" dirty="0">
                <a:solidFill>
                  <a:srgbClr val="334155"/>
                </a:solidFill>
                <a:latin typeface="Inter"/>
              </a:rPr>
              <a:t>EU AI </a:t>
            </a:r>
            <a:r>
              <a:rPr lang="es-ES" sz="1600" b="1" i="0" u="none" dirty="0" err="1">
                <a:solidFill>
                  <a:srgbClr val="334155"/>
                </a:solidFill>
                <a:latin typeface="Inter"/>
              </a:rPr>
              <a:t>Act</a:t>
            </a:r>
            <a:r>
              <a:rPr lang="es-ES" sz="160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800302"/>
            <a:ext cx="52578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600" b="0" i="0" u="none" dirty="0">
                <a:solidFill>
                  <a:srgbClr val="334155"/>
                </a:solidFill>
                <a:latin typeface="Inter"/>
              </a:rPr>
              <a:t>• </a:t>
            </a:r>
            <a:r>
              <a:rPr sz="1600" b="1" i="0" u="none" dirty="0" err="1">
                <a:solidFill>
                  <a:srgbClr val="334155"/>
                </a:solidFill>
                <a:latin typeface="Inter"/>
              </a:rPr>
              <a:t>Seguridad</a:t>
            </a:r>
            <a:r>
              <a:rPr sz="1600" b="1" i="0" u="none" dirty="0">
                <a:solidFill>
                  <a:srgbClr val="334155"/>
                </a:solidFill>
                <a:latin typeface="Inter"/>
              </a:rPr>
              <a:t> Integral: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Control de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accesos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con IAM,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cifrado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datos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mediante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KMS y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monitoreo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auditoría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en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tiempo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real.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728912"/>
            <a:ext cx="5257800" cy="2076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0125" y="3119437"/>
            <a:ext cx="447675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sz="7500" b="0" i="0" u="none">
                <a:solidFill>
                  <a:srgbClr val="4338CA"/>
                </a:solidFill>
                <a:latin typeface="Plus Jakarta Sans ExtraBold"/>
              </a:rPr>
              <a:t>55%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125" y="4186237"/>
            <a:ext cx="4476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E293B"/>
                </a:solidFill>
                <a:latin typeface="Inter"/>
              </a:rPr>
              <a:t>Ahorro Mensual en AWS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600" y="1770608"/>
            <a:ext cx="552069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 err="1">
                <a:solidFill>
                  <a:srgbClr val="1E293B"/>
                </a:solidFill>
                <a:latin typeface="Plus Jakarta Sans SemiBold"/>
              </a:rPr>
              <a:t>Eficiencia</a:t>
            </a:r>
            <a:r>
              <a:rPr sz="2000" b="1" i="0" u="none" dirty="0">
                <a:solidFill>
                  <a:srgbClr val="1E293B"/>
                </a:solidFill>
                <a:latin typeface="Plus Jakarta Sans SemiBold"/>
              </a:rPr>
              <a:t> </a:t>
            </a:r>
            <a:r>
              <a:rPr sz="2000" b="1" i="0" u="none" dirty="0" err="1">
                <a:solidFill>
                  <a:srgbClr val="1E293B"/>
                </a:solidFill>
                <a:latin typeface="Plus Jakarta Sans SemiBold"/>
              </a:rPr>
              <a:t>Financiera</a:t>
            </a:r>
            <a:r>
              <a:rPr sz="2000" b="1" i="0" u="none" dirty="0">
                <a:solidFill>
                  <a:srgbClr val="1E293B"/>
                </a:solidFill>
                <a:latin typeface="Plus Jakarta Sans SemiBold"/>
              </a:rPr>
              <a:t> e </a:t>
            </a:r>
            <a:r>
              <a:rPr sz="2000" b="1" i="0" u="none" dirty="0" err="1">
                <a:solidFill>
                  <a:srgbClr val="1E293B"/>
                </a:solidFill>
                <a:latin typeface="Plus Jakarta Sans SemiBold"/>
              </a:rPr>
              <a:t>Infraestructura</a:t>
            </a:r>
            <a:endParaRPr sz="2000" b="1" i="0" u="none" dirty="0">
              <a:solidFill>
                <a:srgbClr val="1E293B"/>
              </a:solidFill>
              <a:latin typeface="Plus Jakarta Sans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24600" y="2559272"/>
            <a:ext cx="5257800" cy="9746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600" b="0" i="0" u="none" dirty="0">
                <a:solidFill>
                  <a:srgbClr val="334155"/>
                </a:solidFill>
                <a:latin typeface="Inter"/>
              </a:rPr>
              <a:t>Con la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implementación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de la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arquitectura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optimizada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(Batch +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Caché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+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Escalamiento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Vertical),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el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costo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operativo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mensual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en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AWS se reduce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drásticamente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600" b="1" i="0" u="none" dirty="0">
                <a:solidFill>
                  <a:srgbClr val="334155"/>
                </a:solidFill>
                <a:latin typeface="Inter"/>
              </a:rPr>
              <a:t>305</a:t>
            </a:r>
            <a:r>
              <a:rPr lang="es-ES" sz="1600" b="1" i="0" u="none" dirty="0">
                <a:solidFill>
                  <a:srgbClr val="334155"/>
                </a:solidFill>
                <a:latin typeface="Inter"/>
              </a:rPr>
              <a:t>.</a:t>
            </a:r>
            <a:r>
              <a:rPr sz="1600" b="1" i="0" u="none" dirty="0">
                <a:solidFill>
                  <a:srgbClr val="334155"/>
                </a:solidFill>
                <a:latin typeface="Inter"/>
              </a:rPr>
              <a:t>86 USD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a solo </a:t>
            </a:r>
            <a:r>
              <a:rPr sz="1600" b="1" i="0" u="none" dirty="0">
                <a:solidFill>
                  <a:srgbClr val="334155"/>
                </a:solidFill>
                <a:latin typeface="Inter"/>
              </a:rPr>
              <a:t>137</a:t>
            </a:r>
            <a:r>
              <a:rPr lang="es-ES" sz="1600" b="1" i="0" u="none" dirty="0">
                <a:solidFill>
                  <a:srgbClr val="334155"/>
                </a:solidFill>
                <a:latin typeface="Inter"/>
              </a:rPr>
              <a:t>.</a:t>
            </a:r>
            <a:r>
              <a:rPr sz="1600" b="1" i="0" u="none" dirty="0">
                <a:solidFill>
                  <a:srgbClr val="334155"/>
                </a:solidFill>
                <a:latin typeface="Inter"/>
              </a:rPr>
              <a:t>31 USD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600" y="3948112"/>
            <a:ext cx="5257800" cy="730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Esto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permite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a la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organización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contar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con una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solución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industrializada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,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altamente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disponible,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responsable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éticamente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y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económicamente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sostenible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a largo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plazo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33400"/>
            <a:ext cx="1152144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Impacto Financiero de la Escalabilidad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33500" y="1783556"/>
            <a:ext cx="9525000" cy="839390"/>
          </a:xfrm>
          <a:prstGeom prst="roundRect">
            <a:avLst>
              <a:gd name="adj" fmla="val 11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66900" y="1955006"/>
            <a:ext cx="8801100" cy="473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400" b="1" i="0" u="none" dirty="0">
                <a:solidFill>
                  <a:srgbClr val="334155"/>
                </a:solidFill>
                <a:latin typeface="Inter"/>
              </a:rPr>
              <a:t>Control de </a:t>
            </a:r>
            <a:r>
              <a:rPr sz="1400" b="1" i="0" u="none" dirty="0" err="1">
                <a:solidFill>
                  <a:srgbClr val="334155"/>
                </a:solidFill>
                <a:latin typeface="Inter"/>
              </a:rPr>
              <a:t>Exactitud</a:t>
            </a:r>
            <a:r>
              <a:rPr sz="1400" b="1" i="0" u="none" dirty="0">
                <a:solidFill>
                  <a:srgbClr val="334155"/>
                </a:solidFill>
                <a:latin typeface="Inter"/>
              </a:rPr>
              <a:t> (Accuracy):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Umbral </a:t>
            </a:r>
            <a:r>
              <a:rPr sz="1400" b="0" i="0" u="none" dirty="0" err="1">
                <a:solidFill>
                  <a:srgbClr val="334155"/>
                </a:solidFill>
                <a:latin typeface="Inter"/>
              </a:rPr>
              <a:t>mínimo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Inter"/>
              </a:rPr>
              <a:t>definido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Inter"/>
              </a:rPr>
              <a:t>en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Accuracy &lt; 0.65. </a:t>
            </a:r>
            <a:r>
              <a:rPr sz="1400" b="0" i="0" u="none" dirty="0" err="1">
                <a:solidFill>
                  <a:srgbClr val="334155"/>
                </a:solidFill>
                <a:latin typeface="Inter"/>
              </a:rPr>
              <a:t>Dispara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Inter"/>
              </a:rPr>
              <a:t>alertas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para </a:t>
            </a:r>
            <a:r>
              <a:rPr sz="1400" b="0" i="0" u="none" dirty="0" err="1">
                <a:solidFill>
                  <a:srgbClr val="334155"/>
                </a:solidFill>
                <a:latin typeface="Inter"/>
              </a:rPr>
              <a:t>revisión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y </a:t>
            </a:r>
            <a:r>
              <a:rPr sz="1400" b="0" i="0" u="none" dirty="0" err="1">
                <a:solidFill>
                  <a:srgbClr val="334155"/>
                </a:solidFill>
                <a:latin typeface="Inter"/>
              </a:rPr>
              <a:t>reentrenamiento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Inter"/>
              </a:rPr>
              <a:t>automático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del </a:t>
            </a:r>
            <a:r>
              <a:rPr sz="1400" b="0" i="0" u="none" dirty="0" err="1">
                <a:solidFill>
                  <a:srgbClr val="334155"/>
                </a:solidFill>
                <a:latin typeface="Inter"/>
              </a:rPr>
              <a:t>modelo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2775346"/>
            <a:ext cx="9525000" cy="839390"/>
          </a:xfrm>
          <a:prstGeom prst="roundRect">
            <a:avLst>
              <a:gd name="adj" fmla="val 11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66900" y="2946796"/>
            <a:ext cx="8801100" cy="473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400" b="1" i="0" u="none" dirty="0" err="1">
                <a:solidFill>
                  <a:srgbClr val="334155"/>
                </a:solidFill>
                <a:latin typeface="Inter"/>
              </a:rPr>
              <a:t>Supervisión</a:t>
            </a:r>
            <a:r>
              <a:rPr sz="1400" b="1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400" b="1" i="0" u="none" dirty="0" err="1">
                <a:solidFill>
                  <a:srgbClr val="334155"/>
                </a:solidFill>
                <a:latin typeface="Inter"/>
              </a:rPr>
              <a:t>Latencia</a:t>
            </a:r>
            <a:r>
              <a:rPr sz="1400" b="1" i="0" u="none" dirty="0">
                <a:solidFill>
                  <a:srgbClr val="334155"/>
                </a:solidFill>
                <a:latin typeface="Inter"/>
              </a:rPr>
              <a:t>: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Umbral de </a:t>
            </a:r>
            <a:r>
              <a:rPr sz="1400" b="0" i="0" u="none" dirty="0" err="1">
                <a:solidFill>
                  <a:srgbClr val="334155"/>
                </a:solidFill>
                <a:latin typeface="Inter"/>
              </a:rPr>
              <a:t>respuesta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Latency &gt; 500 </a:t>
            </a:r>
            <a:r>
              <a:rPr sz="1400" b="0" i="0" u="none" dirty="0" err="1">
                <a:solidFill>
                  <a:srgbClr val="334155"/>
                </a:solidFill>
                <a:latin typeface="Inter"/>
              </a:rPr>
              <a:t>ms.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Inter"/>
              </a:rPr>
              <a:t>Garantiza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un </a:t>
            </a:r>
            <a:r>
              <a:rPr sz="1400" b="0" i="0" u="none" dirty="0" err="1">
                <a:solidFill>
                  <a:srgbClr val="334155"/>
                </a:solidFill>
                <a:latin typeface="Inter"/>
              </a:rPr>
              <a:t>servicio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Inter"/>
              </a:rPr>
              <a:t>ágil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Inter"/>
              </a:rPr>
              <a:t>durante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la consulta </a:t>
            </a:r>
            <a:r>
              <a:rPr sz="1400" b="0" i="0" u="none" dirty="0" err="1">
                <a:solidFill>
                  <a:srgbClr val="334155"/>
                </a:solidFill>
                <a:latin typeface="Inter"/>
              </a:rPr>
              <a:t>masiva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400" b="0" i="0" u="none" dirty="0" err="1">
                <a:solidFill>
                  <a:srgbClr val="334155"/>
                </a:solidFill>
                <a:latin typeface="Inter"/>
              </a:rPr>
              <a:t>predicciones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3500" y="3767137"/>
            <a:ext cx="9525000" cy="839390"/>
          </a:xfrm>
          <a:prstGeom prst="roundRect">
            <a:avLst>
              <a:gd name="adj" fmla="val 11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66900" y="3938587"/>
            <a:ext cx="8801100" cy="473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400" b="1" i="0" u="none" dirty="0">
                <a:solidFill>
                  <a:srgbClr val="334155"/>
                </a:solidFill>
                <a:latin typeface="Inter"/>
              </a:rPr>
              <a:t>Error Rate Tracking:</a:t>
            </a:r>
            <a:r>
              <a:rPr lang="es-ES" sz="1400" b="1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lang="es-ES" sz="1400" dirty="0">
                <a:solidFill>
                  <a:srgbClr val="334155"/>
                </a:solidFill>
                <a:latin typeface="Inter"/>
              </a:rPr>
              <a:t>Métrica calculada como 1 - </a:t>
            </a:r>
            <a:r>
              <a:rPr lang="es-ES" sz="1400" dirty="0" err="1">
                <a:solidFill>
                  <a:srgbClr val="334155"/>
                </a:solidFill>
                <a:latin typeface="Inter"/>
              </a:rPr>
              <a:t>Accuracy</a:t>
            </a:r>
            <a:r>
              <a:rPr lang="es-ES" sz="1400" dirty="0">
                <a:solidFill>
                  <a:srgbClr val="334155"/>
                </a:solidFill>
                <a:latin typeface="Inter"/>
              </a:rPr>
              <a:t> para monitorear la proporción de predicciones incorrectas del modelo durante las ejecuciones de seguimiento.</a:t>
            </a:r>
            <a:endParaRPr sz="1400" dirty="0">
              <a:solidFill>
                <a:srgbClr val="334155"/>
              </a:solidFill>
              <a:latin typeface="Inter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333500" y="4758928"/>
            <a:ext cx="9525000" cy="839390"/>
          </a:xfrm>
          <a:prstGeom prst="roundRect">
            <a:avLst>
              <a:gd name="adj" fmla="val 11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66900" y="4930378"/>
            <a:ext cx="8801100" cy="473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400" b="1" i="0" u="none" dirty="0" err="1">
                <a:solidFill>
                  <a:srgbClr val="334155"/>
                </a:solidFill>
                <a:latin typeface="Inter"/>
              </a:rPr>
              <a:t>Detección</a:t>
            </a:r>
            <a:r>
              <a:rPr sz="1400" b="1" i="0" u="none" dirty="0">
                <a:solidFill>
                  <a:srgbClr val="334155"/>
                </a:solidFill>
                <a:latin typeface="Inter"/>
              </a:rPr>
              <a:t> de Data Drift:</a:t>
            </a:r>
            <a:r>
              <a:rPr lang="es-ES" sz="1400" b="1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lang="es-ES" sz="1400" dirty="0">
                <a:solidFill>
                  <a:srgbClr val="334155"/>
                </a:solidFill>
                <a:latin typeface="Inter"/>
              </a:rPr>
              <a:t>Se incorporó una prueba </a:t>
            </a:r>
            <a:r>
              <a:rPr lang="es-ES" sz="1400" dirty="0" err="1">
                <a:solidFill>
                  <a:srgbClr val="334155"/>
                </a:solidFill>
                <a:latin typeface="Inter"/>
              </a:rPr>
              <a:t>Kolmogorov-Smirnov</a:t>
            </a:r>
            <a:r>
              <a:rPr lang="es-ES" sz="1400" dirty="0">
                <a:solidFill>
                  <a:srgbClr val="334155"/>
                </a:solidFill>
                <a:latin typeface="Inter"/>
              </a:rPr>
              <a:t> mediante ks_2samp en monitor_dataset.py para comparar distribuciones de variables de entrada e identificar posibles cambios estadísticos en los datos. </a:t>
            </a:r>
            <a:endParaRPr sz="1400" dirty="0">
              <a:solidFill>
                <a:srgbClr val="334155"/>
              </a:solidFill>
              <a:latin typeface="Inter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33500" y="2613421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33500" y="3605212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333500" y="4597003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333500" y="5588793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525" y="1978818"/>
            <a:ext cx="190500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3525" y="2970609"/>
            <a:ext cx="19050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3525" y="3962400"/>
            <a:ext cx="19050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3525" y="4954190"/>
            <a:ext cx="190500" cy="2000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600" y="533400"/>
            <a:ext cx="1152144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Estrategia de Monitoreo y Mantenimiento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8E44ACA3-5B37-4A3F-A122-C35D70B339C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944" r="21421"/>
          <a:stretch/>
        </p:blipFill>
        <p:spPr>
          <a:xfrm>
            <a:off x="10563225" y="768420"/>
            <a:ext cx="1567815" cy="5692633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AE4C1446-0EC2-460A-AF75-C55B9A424363}"/>
              </a:ext>
            </a:extLst>
          </p:cNvPr>
          <p:cNvSpPr txBox="1"/>
          <p:nvPr/>
        </p:nvSpPr>
        <p:spPr>
          <a:xfrm>
            <a:off x="238125" y="5838740"/>
            <a:ext cx="61569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Con un </a:t>
            </a:r>
            <a:r>
              <a:rPr lang="es-ES" sz="1400" dirty="0" err="1"/>
              <a:t>Accuracy</a:t>
            </a:r>
            <a:r>
              <a:rPr lang="es-ES" sz="1400" dirty="0"/>
              <a:t> de 0.6775, el modelo realizó correctamente el 67.75% de las clasificaciones, mientras que el Error </a:t>
            </a:r>
            <a:r>
              <a:rPr lang="es-ES" sz="1400" dirty="0" err="1"/>
              <a:t>Rate</a:t>
            </a:r>
            <a:r>
              <a:rPr lang="es-ES" sz="1400" dirty="0"/>
              <a:t> fue de 0.3225, equivalente al 32.25% de predicciones incorrectas.</a:t>
            </a:r>
            <a:endParaRPr lang="es-MX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229891"/>
            <a:ext cx="10972800" cy="3074342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944551"/>
              </p:ext>
            </p:extLst>
          </p:nvPr>
        </p:nvGraphicFramePr>
        <p:xfrm>
          <a:off x="619125" y="2239416"/>
          <a:ext cx="10953748" cy="3113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35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8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11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215">
                <a:tc>
                  <a:txBody>
                    <a:bodyPr/>
                    <a:lstStyle/>
                    <a:p>
                      <a:pPr algn="l"/>
                      <a:r>
                        <a:rPr sz="1800" b="1" i="0" u="none" dirty="0" err="1">
                          <a:solidFill>
                            <a:srgbClr val="0F172A"/>
                          </a:solidFill>
                          <a:latin typeface="Plus Jakarta Sans"/>
                        </a:rPr>
                        <a:t>Capa</a:t>
                      </a:r>
                      <a:r>
                        <a:rPr sz="1800" b="1" i="0" u="none" dirty="0">
                          <a:solidFill>
                            <a:srgbClr val="0F172A"/>
                          </a:solidFill>
                          <a:latin typeface="Plus Jakarta Sans"/>
                        </a:rPr>
                        <a:t> de </a:t>
                      </a:r>
                      <a:r>
                        <a:rPr sz="1800" b="1" i="0" u="none" dirty="0" err="1">
                          <a:solidFill>
                            <a:srgbClr val="0F172A"/>
                          </a:solidFill>
                          <a:latin typeface="Plus Jakarta Sans"/>
                        </a:rPr>
                        <a:t>Arquitectura</a:t>
                      </a:r>
                      <a:endParaRPr sz="1800" b="1" i="0" u="none" dirty="0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 u="none" dirty="0" err="1">
                          <a:solidFill>
                            <a:srgbClr val="0F172A"/>
                          </a:solidFill>
                          <a:latin typeface="Plus Jakarta Sans"/>
                        </a:rPr>
                        <a:t>Tecnologías</a:t>
                      </a:r>
                      <a:r>
                        <a:rPr sz="1800" b="1" i="0" u="none" dirty="0">
                          <a:solidFill>
                            <a:srgbClr val="0F172A"/>
                          </a:solidFill>
                          <a:latin typeface="Plus Jakarta Sans"/>
                        </a:rPr>
                        <a:t> Clave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 u="none" dirty="0" err="1">
                          <a:solidFill>
                            <a:srgbClr val="0F172A"/>
                          </a:solidFill>
                          <a:latin typeface="Plus Jakarta Sans"/>
                        </a:rPr>
                        <a:t>Función</a:t>
                      </a:r>
                      <a:r>
                        <a:rPr sz="1800" b="1" i="0" u="none" dirty="0">
                          <a:solidFill>
                            <a:srgbClr val="0F172A"/>
                          </a:solidFill>
                          <a:latin typeface="Plus Jakarta Sans"/>
                        </a:rPr>
                        <a:t> </a:t>
                      </a:r>
                      <a:r>
                        <a:rPr sz="1800" b="1" i="0" u="none" dirty="0" err="1">
                          <a:solidFill>
                            <a:srgbClr val="0F172A"/>
                          </a:solidFill>
                          <a:latin typeface="Plus Jakarta Sans"/>
                        </a:rPr>
                        <a:t>Específica</a:t>
                      </a:r>
                      <a:r>
                        <a:rPr sz="1800" b="1" i="0" u="none" dirty="0">
                          <a:solidFill>
                            <a:srgbClr val="0F172A"/>
                          </a:solidFill>
                          <a:latin typeface="Plus Jakarta Sans"/>
                        </a:rPr>
                        <a:t> </a:t>
                      </a:r>
                      <a:r>
                        <a:rPr sz="1800" b="1" i="0" u="none" dirty="0" err="1">
                          <a:solidFill>
                            <a:srgbClr val="0F172A"/>
                          </a:solidFill>
                          <a:latin typeface="Plus Jakarta Sans"/>
                        </a:rPr>
                        <a:t>en</a:t>
                      </a:r>
                      <a:r>
                        <a:rPr sz="1800" b="1" i="0" u="none" dirty="0">
                          <a:solidFill>
                            <a:srgbClr val="0F172A"/>
                          </a:solidFill>
                          <a:latin typeface="Plus Jakarta Sans"/>
                        </a:rPr>
                        <a:t> </a:t>
                      </a:r>
                      <a:r>
                        <a:rPr sz="1800" b="1" i="0" u="none" dirty="0" err="1">
                          <a:solidFill>
                            <a:srgbClr val="0F172A"/>
                          </a:solidFill>
                          <a:latin typeface="Plus Jakarta Sans"/>
                        </a:rPr>
                        <a:t>el</a:t>
                      </a:r>
                      <a:r>
                        <a:rPr sz="1800" b="1" i="0" u="none" dirty="0">
                          <a:solidFill>
                            <a:srgbClr val="0F172A"/>
                          </a:solidFill>
                          <a:latin typeface="Plus Jakarta Sans"/>
                        </a:rPr>
                        <a:t> Proyecto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215">
                <a:tc>
                  <a:txBody>
                    <a:bodyPr/>
                    <a:lstStyle/>
                    <a:p>
                      <a:pPr algn="l"/>
                      <a:r>
                        <a:rPr sz="1600" b="1" i="0" u="none">
                          <a:solidFill>
                            <a:srgbClr val="334155"/>
                          </a:solidFill>
                          <a:latin typeface="Inter"/>
                        </a:rPr>
                        <a:t>Lenguaje &amp; Datos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Python 3.x, Pandas, CSV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334155"/>
                          </a:solidFill>
                          <a:latin typeface="Inter"/>
                        </a:rPr>
                        <a:t>Ingesta, manipulación y estructuración de variables financieras.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215">
                <a:tc>
                  <a:txBody>
                    <a:bodyPr/>
                    <a:lstStyle/>
                    <a:p>
                      <a:pPr algn="l"/>
                      <a:r>
                        <a:rPr sz="160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Machine Learning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Scikit-learn, </a:t>
                      </a:r>
                      <a:r>
                        <a:rPr sz="16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Joblib</a:t>
                      </a:r>
                      <a:endParaRPr sz="160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334155"/>
                          </a:solidFill>
                          <a:latin typeface="Inter"/>
                        </a:rPr>
                        <a:t>Entrenamiento de clasificadores, regresores y serialización de modelos.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215">
                <a:tc>
                  <a:txBody>
                    <a:bodyPr/>
                    <a:lstStyle/>
                    <a:p>
                      <a:pPr algn="l"/>
                      <a:r>
                        <a:rPr sz="1600" b="1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MLOps</a:t>
                      </a:r>
                      <a:r>
                        <a:rPr sz="160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&amp; Tracking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MLflow</a:t>
                      </a:r>
                      <a:r>
                        <a:rPr sz="16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Tracking (</a:t>
                      </a:r>
                      <a:r>
                        <a:rPr sz="16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mlruns</a:t>
                      </a:r>
                      <a:r>
                        <a:rPr sz="16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/)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334155"/>
                          </a:solidFill>
                          <a:latin typeface="Inter"/>
                        </a:rPr>
                        <a:t>Registro centralizado de experimentos, parámetros y artefactos.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215">
                <a:tc>
                  <a:txBody>
                    <a:bodyPr/>
                    <a:lstStyle/>
                    <a:p>
                      <a:pPr algn="l"/>
                      <a:r>
                        <a:rPr sz="160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API &amp; </a:t>
                      </a:r>
                      <a:r>
                        <a:rPr sz="1600" b="1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Microservicio</a:t>
                      </a:r>
                      <a:endParaRPr sz="1600" b="1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FastAPI</a:t>
                      </a:r>
                      <a:r>
                        <a:rPr sz="16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, </a:t>
                      </a:r>
                      <a:r>
                        <a:rPr sz="16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Uvicorn</a:t>
                      </a:r>
                      <a:r>
                        <a:rPr sz="16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, Swagger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Exposición</a:t>
                      </a:r>
                      <a:r>
                        <a:rPr sz="16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RESTful de </a:t>
                      </a:r>
                      <a:r>
                        <a:rPr sz="16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predicciones</a:t>
                      </a:r>
                      <a:r>
                        <a:rPr sz="16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con </a:t>
                      </a:r>
                      <a:r>
                        <a:rPr sz="16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validación</a:t>
                      </a:r>
                      <a:r>
                        <a:rPr sz="16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de </a:t>
                      </a:r>
                      <a:r>
                        <a:rPr sz="16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esquemas</a:t>
                      </a:r>
                      <a:r>
                        <a:rPr sz="16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217">
                <a:tc>
                  <a:txBody>
                    <a:bodyPr/>
                    <a:lstStyle/>
                    <a:p>
                      <a:pPr algn="l"/>
                      <a:r>
                        <a:rPr sz="1600" b="1" i="0" u="none">
                          <a:solidFill>
                            <a:srgbClr val="334155"/>
                          </a:solidFill>
                          <a:latin typeface="Inter"/>
                        </a:rPr>
                        <a:t>Nube &amp; Gobernanza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Docker, AWS (Batch/EC2), IAM, KMS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Infraestructura</a:t>
                      </a:r>
                      <a:r>
                        <a:rPr sz="16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escalable</a:t>
                      </a:r>
                      <a:r>
                        <a:rPr sz="16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, </a:t>
                      </a:r>
                      <a:r>
                        <a:rPr sz="16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optimizada</a:t>
                      </a:r>
                      <a:r>
                        <a:rPr sz="16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en</a:t>
                      </a:r>
                      <a:r>
                        <a:rPr sz="16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costos</a:t>
                      </a:r>
                      <a:r>
                        <a:rPr sz="16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y </a:t>
                      </a:r>
                      <a:r>
                        <a:rPr sz="16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cumplimiento</a:t>
                      </a:r>
                      <a:r>
                        <a:rPr sz="16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legal.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19125" y="2722810"/>
            <a:ext cx="22635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882651" y="2722810"/>
            <a:ext cx="30788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61459" y="2722810"/>
            <a:ext cx="56114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9125" y="3235225"/>
            <a:ext cx="22635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882651" y="3235225"/>
            <a:ext cx="30788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61459" y="3235225"/>
            <a:ext cx="56114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125" y="3747641"/>
            <a:ext cx="22635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82651" y="3747641"/>
            <a:ext cx="30788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61459" y="3747641"/>
            <a:ext cx="56114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125" y="4265116"/>
            <a:ext cx="22635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882651" y="4265116"/>
            <a:ext cx="30788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61459" y="4265116"/>
            <a:ext cx="56114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9125" y="4777531"/>
            <a:ext cx="22635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882651" y="4777531"/>
            <a:ext cx="30788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61459" y="4777531"/>
            <a:ext cx="56114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9600" y="533400"/>
            <a:ext cx="1152144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Plus Jakarta Sans"/>
              </a:rPr>
              <a:t>Stack </a:t>
            </a:r>
            <a:r>
              <a:rPr sz="2550" b="1" i="0" u="none" dirty="0" err="1">
                <a:solidFill>
                  <a:srgbClr val="0F172A"/>
                </a:solidFill>
                <a:latin typeface="Plus Jakarta Sans"/>
              </a:rPr>
              <a:t>Tecnológico</a:t>
            </a:r>
            <a:r>
              <a:rPr sz="255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550" b="1" i="0" u="none" dirty="0" err="1">
                <a:solidFill>
                  <a:srgbClr val="0F172A"/>
                </a:solidFill>
                <a:latin typeface="Plus Jakarta Sans"/>
              </a:rPr>
              <a:t>Integrado</a:t>
            </a:r>
            <a:endParaRPr sz="2550" b="1" i="0" u="none" dirty="0">
              <a:solidFill>
                <a:srgbClr val="0F172A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8E51E9B-5851-4357-ABA7-F51123002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764469"/>
            <a:ext cx="9555933" cy="588807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TextBox 19">
            <a:extLst>
              <a:ext uri="{FF2B5EF4-FFF2-40B4-BE49-F238E27FC236}">
                <a16:creationId xmlns:a16="http://schemas.microsoft.com/office/drawing/2014/main" id="{C33A95F5-2EAD-402D-9D7E-0AAB96446CAD}"/>
              </a:ext>
            </a:extLst>
          </p:cNvPr>
          <p:cNvSpPr txBox="1"/>
          <p:nvPr/>
        </p:nvSpPr>
        <p:spPr>
          <a:xfrm>
            <a:off x="335280" y="205461"/>
            <a:ext cx="11521440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2550" b="1" i="0" u="none" dirty="0">
                <a:solidFill>
                  <a:srgbClr val="0F172A"/>
                </a:solidFill>
                <a:latin typeface="Plus Jakarta Sans"/>
              </a:rPr>
              <a:t>Ejemplo de Código en Visual Studio </a:t>
            </a:r>
            <a:r>
              <a:rPr lang="es-ES" sz="2550" b="1" i="0" u="none" dirty="0" err="1">
                <a:solidFill>
                  <a:srgbClr val="0F172A"/>
                </a:solidFill>
                <a:latin typeface="Plus Jakarta Sans"/>
              </a:rPr>
              <a:t>Code</a:t>
            </a:r>
            <a:endParaRPr sz="2550" b="1" i="0" u="none" dirty="0">
              <a:solidFill>
                <a:srgbClr val="0F172A"/>
              </a:solidFill>
              <a:latin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26264852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381695"/>
            <a:ext cx="5257800" cy="317137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2381695"/>
            <a:ext cx="5257800" cy="31713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696021"/>
            <a:ext cx="486060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u="none" dirty="0" err="1">
                <a:solidFill>
                  <a:srgbClr val="4338CA"/>
                </a:solidFill>
                <a:latin typeface="Plus Jakarta Sans SemiBold"/>
              </a:rPr>
              <a:t>Evidencia</a:t>
            </a:r>
            <a:r>
              <a:rPr sz="2000" b="0" i="0" u="none" dirty="0">
                <a:solidFill>
                  <a:srgbClr val="4338CA"/>
                </a:solidFill>
                <a:latin typeface="Plus Jakarta Sans SemiBold"/>
              </a:rPr>
              <a:t> del </a:t>
            </a:r>
            <a:r>
              <a:rPr sz="2000" b="0" i="0" u="none" dirty="0" err="1">
                <a:solidFill>
                  <a:srgbClr val="4338CA"/>
                </a:solidFill>
                <a:latin typeface="Plus Jakarta Sans SemiBold"/>
              </a:rPr>
              <a:t>Ciclo</a:t>
            </a:r>
            <a:r>
              <a:rPr sz="2000" b="0" i="0" u="none" dirty="0">
                <a:solidFill>
                  <a:srgbClr val="4338CA"/>
                </a:solidFill>
                <a:latin typeface="Plus Jakarta Sans SemiBold"/>
              </a:rPr>
              <a:t> de Vida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057971"/>
            <a:ext cx="4629150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600" b="0" i="0" u="none" dirty="0">
                <a:solidFill>
                  <a:srgbClr val="334155"/>
                </a:solidFill>
                <a:latin typeface="Inter"/>
              </a:rPr>
              <a:t>• </a:t>
            </a:r>
            <a:r>
              <a:rPr sz="1600" b="1" i="0" u="none" dirty="0" err="1">
                <a:solidFill>
                  <a:srgbClr val="334155"/>
                </a:solidFill>
                <a:latin typeface="Inter"/>
              </a:rPr>
              <a:t>MLflow</a:t>
            </a:r>
            <a:r>
              <a:rPr sz="1600" b="1" i="0" u="none" dirty="0">
                <a:solidFill>
                  <a:srgbClr val="334155"/>
                </a:solidFill>
                <a:latin typeface="Inter"/>
              </a:rPr>
              <a:t> DB: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Base de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datos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mlflow.db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para registrar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métricas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históricas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ejecuciones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894336"/>
            <a:ext cx="4629150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600" b="0" i="0" u="none" dirty="0">
                <a:solidFill>
                  <a:srgbClr val="334155"/>
                </a:solidFill>
                <a:latin typeface="Inter"/>
              </a:rPr>
              <a:t>• </a:t>
            </a:r>
            <a:r>
              <a:rPr sz="1600" b="1" i="0" u="none" dirty="0" err="1">
                <a:solidFill>
                  <a:srgbClr val="334155"/>
                </a:solidFill>
                <a:latin typeface="Inter"/>
              </a:rPr>
              <a:t>Versionamiento</a:t>
            </a:r>
            <a:r>
              <a:rPr sz="1600" b="1" i="0" u="none" dirty="0">
                <a:solidFill>
                  <a:srgbClr val="334155"/>
                </a:solidFill>
                <a:latin typeface="Inter"/>
              </a:rPr>
              <a:t> Git: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Historial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de commits para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auditar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modificaciones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exactas del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código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fuente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4723705"/>
            <a:ext cx="4629150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600" b="0" i="0" u="none" dirty="0">
                <a:solidFill>
                  <a:srgbClr val="334155"/>
                </a:solidFill>
                <a:latin typeface="Inter"/>
              </a:rPr>
              <a:t>• </a:t>
            </a:r>
            <a:r>
              <a:rPr sz="1600" b="1" i="0" u="none" dirty="0">
                <a:solidFill>
                  <a:srgbClr val="334155"/>
                </a:solidFill>
                <a:latin typeface="Inter"/>
              </a:rPr>
              <a:t>Logs de Sistema: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Archivo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monitor.log con la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trazabilidad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operativa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del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servicio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predictivo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2696021"/>
            <a:ext cx="486060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u="none" dirty="0" err="1">
                <a:solidFill>
                  <a:srgbClr val="4338CA"/>
                </a:solidFill>
                <a:latin typeface="Plus Jakarta Sans SemiBold"/>
              </a:rPr>
              <a:t>Artefactos</a:t>
            </a:r>
            <a:r>
              <a:rPr sz="2000" b="0" i="0" u="none" dirty="0">
                <a:solidFill>
                  <a:srgbClr val="4338CA"/>
                </a:solidFill>
                <a:latin typeface="Plus Jakarta Sans SemiBold"/>
              </a:rPr>
              <a:t> </a:t>
            </a:r>
            <a:r>
              <a:rPr sz="2000" b="0" i="0" u="none" dirty="0" err="1">
                <a:solidFill>
                  <a:srgbClr val="4338CA"/>
                </a:solidFill>
                <a:latin typeface="Plus Jakarta Sans SemiBold"/>
              </a:rPr>
              <a:t>Generados</a:t>
            </a:r>
            <a:endParaRPr sz="2000" b="0" i="0" u="none" dirty="0">
              <a:solidFill>
                <a:srgbClr val="4338CA"/>
              </a:solidFill>
              <a:latin typeface="Plus Jakarta Sans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38925" y="3057971"/>
            <a:ext cx="4629150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600" b="0" i="0" u="none" dirty="0">
                <a:solidFill>
                  <a:srgbClr val="334155"/>
                </a:solidFill>
                <a:latin typeface="Inter"/>
              </a:rPr>
              <a:t>• </a:t>
            </a:r>
            <a:r>
              <a:rPr sz="1600" b="1" i="0" u="none" dirty="0" err="1">
                <a:solidFill>
                  <a:srgbClr val="334155"/>
                </a:solidFill>
                <a:latin typeface="Inter"/>
              </a:rPr>
              <a:t>Evaluación</a:t>
            </a:r>
            <a:r>
              <a:rPr sz="1600" b="1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600" b="1" i="0" u="none" dirty="0" err="1">
                <a:solidFill>
                  <a:srgbClr val="334155"/>
                </a:solidFill>
                <a:latin typeface="Inter"/>
              </a:rPr>
              <a:t>Riesgo</a:t>
            </a:r>
            <a:r>
              <a:rPr sz="1600" b="1" i="0" u="none" dirty="0">
                <a:solidFill>
                  <a:srgbClr val="334155"/>
                </a:solidFill>
                <a:latin typeface="Inter"/>
              </a:rPr>
              <a:t>: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confusion_matrix.png para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validación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visual de la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clasificación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925" y="3955205"/>
            <a:ext cx="4629150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600" b="0" i="0" u="none" dirty="0">
                <a:solidFill>
                  <a:srgbClr val="334155"/>
                </a:solidFill>
                <a:latin typeface="Inter"/>
              </a:rPr>
              <a:t>• </a:t>
            </a:r>
            <a:r>
              <a:rPr sz="1600" b="1" i="0" u="none" dirty="0" err="1">
                <a:solidFill>
                  <a:srgbClr val="334155"/>
                </a:solidFill>
                <a:latin typeface="Inter"/>
              </a:rPr>
              <a:t>Análisis</a:t>
            </a:r>
            <a:r>
              <a:rPr sz="1600" b="1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600" b="1" i="0" u="none" dirty="0" err="1">
                <a:solidFill>
                  <a:srgbClr val="334155"/>
                </a:solidFill>
                <a:latin typeface="Inter"/>
              </a:rPr>
              <a:t>Regresión</a:t>
            </a:r>
            <a:r>
              <a:rPr sz="1600" b="1" i="0" u="none" dirty="0">
                <a:solidFill>
                  <a:srgbClr val="334155"/>
                </a:solidFill>
                <a:latin typeface="Inter"/>
              </a:rPr>
              <a:t>: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regresion_dispersion.png y regresion_errores.png.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8925" y="4849191"/>
            <a:ext cx="4629150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600" b="0" i="0" u="none" dirty="0">
                <a:solidFill>
                  <a:srgbClr val="334155"/>
                </a:solidFill>
                <a:latin typeface="Inter"/>
              </a:rPr>
              <a:t>• </a:t>
            </a:r>
            <a:r>
              <a:rPr sz="1600" b="1" i="0" u="none" dirty="0" err="1">
                <a:solidFill>
                  <a:srgbClr val="334155"/>
                </a:solidFill>
                <a:latin typeface="Inter"/>
              </a:rPr>
              <a:t>Comparativa</a:t>
            </a:r>
            <a:r>
              <a:rPr sz="1600" b="1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600" b="1" i="0" u="none" dirty="0" err="1">
                <a:solidFill>
                  <a:srgbClr val="334155"/>
                </a:solidFill>
                <a:latin typeface="Inter"/>
              </a:rPr>
              <a:t>Modelos</a:t>
            </a:r>
            <a:r>
              <a:rPr sz="1600" b="1" i="0" u="none" dirty="0">
                <a:solidFill>
                  <a:srgbClr val="334155"/>
                </a:solidFill>
                <a:latin typeface="Inter"/>
              </a:rPr>
              <a:t>: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comparacion_modelos.csv para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contraste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analítico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métricas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33400"/>
            <a:ext cx="1152144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Auditoría, Trazabilidad y Artefactos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4C4DDDCB-74C0-45EE-B9A4-9811B67BE2E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198" b="21645"/>
          <a:stretch/>
        </p:blipFill>
        <p:spPr>
          <a:xfrm>
            <a:off x="5784532" y="102976"/>
            <a:ext cx="6410325" cy="222454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3E45BB8-F6F8-4EC8-B2E7-3A3C3DDAB0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007"/>
          <a:stretch/>
        </p:blipFill>
        <p:spPr>
          <a:xfrm>
            <a:off x="0" y="95250"/>
            <a:ext cx="4085401" cy="35528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AEDA3FF-FDFB-4828-878F-2A2ACDEBA75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8007"/>
          <a:stretch/>
        </p:blipFill>
        <p:spPr>
          <a:xfrm>
            <a:off x="7858115" y="485761"/>
            <a:ext cx="4205890" cy="304800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5858867-1C25-49F5-AB36-12714EF01A2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258"/>
          <a:stretch/>
        </p:blipFill>
        <p:spPr>
          <a:xfrm>
            <a:off x="4163021" y="1272700"/>
            <a:ext cx="3614138" cy="385538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7EB41E8-B3F0-4B1E-B411-8D3C1EEC6AF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4179" b="12949"/>
          <a:stretch/>
        </p:blipFill>
        <p:spPr>
          <a:xfrm>
            <a:off x="1590675" y="5267325"/>
            <a:ext cx="9413089" cy="9906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965733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070583"/>
            <a:ext cx="12012615" cy="6757096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 rotWithShape="1">
          <a:blip r:embed="rId4"/>
          <a:srcRect t="-4306" b="46250"/>
          <a:stretch/>
        </p:blipFill>
        <p:spPr>
          <a:xfrm>
            <a:off x="6324602" y="1904999"/>
            <a:ext cx="5257800" cy="19907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99160" y="1707951"/>
            <a:ext cx="5029200" cy="730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lang="es-MX" sz="1600" b="1" i="0" u="none" dirty="0">
                <a:solidFill>
                  <a:srgbClr val="334155"/>
                </a:solidFill>
                <a:latin typeface="Inter"/>
              </a:rPr>
              <a:t>Objetivo</a:t>
            </a:r>
            <a:r>
              <a:rPr sz="1600" b="1" i="0" u="none" dirty="0">
                <a:solidFill>
                  <a:srgbClr val="334155"/>
                </a:solidFill>
                <a:latin typeface="Inter"/>
              </a:rPr>
              <a:t>: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lang="es-ES" sz="1600" b="0" i="0" u="none" dirty="0">
                <a:solidFill>
                  <a:srgbClr val="334155"/>
                </a:solidFill>
                <a:latin typeface="Inter"/>
              </a:rPr>
              <a:t>Analizar correos de clientes para identificar el sentimiento y apoyar el proceso de cobranza.</a:t>
            </a:r>
          </a:p>
          <a:p>
            <a:pPr algn="l">
              <a:lnSpc>
                <a:spcPts val="1860"/>
              </a:lnSpc>
            </a:pPr>
            <a:endParaRPr sz="1600" b="0" i="0" u="none" dirty="0">
              <a:solidFill>
                <a:srgbClr val="334155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9160" y="2518035"/>
            <a:ext cx="5029200" cy="243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lang="es-MX" sz="1600" b="1" i="0" u="none" dirty="0">
                <a:solidFill>
                  <a:srgbClr val="334155"/>
                </a:solidFill>
                <a:latin typeface="Inter"/>
              </a:rPr>
              <a:t>Modelos evaluados</a:t>
            </a:r>
            <a:r>
              <a:rPr sz="1600" b="1" i="0" u="none" dirty="0">
                <a:solidFill>
                  <a:srgbClr val="334155"/>
                </a:solidFill>
                <a:latin typeface="Inter"/>
              </a:rPr>
              <a:t>: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lang="es-MX" sz="1600" b="0" i="0" u="none" dirty="0" err="1">
                <a:solidFill>
                  <a:srgbClr val="334155"/>
                </a:solidFill>
                <a:latin typeface="Inter"/>
              </a:rPr>
              <a:t>DistilBERT</a:t>
            </a:r>
            <a:r>
              <a:rPr lang="es-MX" sz="1600" b="0" i="0" u="none" dirty="0">
                <a:solidFill>
                  <a:srgbClr val="334155"/>
                </a:solidFill>
                <a:latin typeface="Inter"/>
              </a:rPr>
              <a:t>, Twitter-</a:t>
            </a:r>
            <a:r>
              <a:rPr lang="es-MX" sz="1600" b="0" i="0" u="none" dirty="0" err="1">
                <a:solidFill>
                  <a:srgbClr val="334155"/>
                </a:solidFill>
                <a:latin typeface="Inter"/>
              </a:rPr>
              <a:t>RoBERTa</a:t>
            </a:r>
            <a:r>
              <a:rPr lang="es-MX" sz="1600" b="0" i="0" u="none" dirty="0">
                <a:solidFill>
                  <a:srgbClr val="334155"/>
                </a:solidFill>
                <a:latin typeface="Inter"/>
              </a:rPr>
              <a:t>, </a:t>
            </a:r>
            <a:r>
              <a:rPr lang="es-MX" sz="1600" b="0" i="0" u="none" dirty="0" err="1">
                <a:solidFill>
                  <a:srgbClr val="334155"/>
                </a:solidFill>
                <a:latin typeface="Inter"/>
              </a:rPr>
              <a:t>FinBERT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087911"/>
            <a:ext cx="4702302" cy="9746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lang="es-MX" sz="1600" b="1" i="0" u="none" dirty="0">
                <a:solidFill>
                  <a:srgbClr val="334155"/>
                </a:solidFill>
                <a:latin typeface="Inter"/>
              </a:rPr>
              <a:t>Resultados</a:t>
            </a:r>
            <a:r>
              <a:rPr sz="1600" b="1" i="0" u="none" dirty="0">
                <a:solidFill>
                  <a:srgbClr val="334155"/>
                </a:solidFill>
                <a:latin typeface="Inter"/>
              </a:rPr>
              <a:t>: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lang="es-ES" sz="1600" b="0" i="0" u="none" dirty="0">
                <a:solidFill>
                  <a:srgbClr val="334155"/>
                </a:solidFill>
                <a:latin typeface="Inter"/>
              </a:rPr>
              <a:t>Comparación mediante </a:t>
            </a:r>
            <a:r>
              <a:rPr lang="es-ES" sz="1600" b="0" i="0" u="none" dirty="0" err="1">
                <a:solidFill>
                  <a:srgbClr val="334155"/>
                </a:solidFill>
                <a:latin typeface="Inter"/>
              </a:rPr>
              <a:t>Accuracy</a:t>
            </a:r>
            <a:r>
              <a:rPr lang="es-ES" sz="1600" b="0" i="0" u="none" dirty="0">
                <a:solidFill>
                  <a:srgbClr val="334155"/>
                </a:solidFill>
                <a:latin typeface="Inter"/>
              </a:rPr>
              <a:t>, </a:t>
            </a:r>
            <a:r>
              <a:rPr lang="es-ES" sz="1600" b="0" i="0" u="none" dirty="0" err="1">
                <a:solidFill>
                  <a:srgbClr val="334155"/>
                </a:solidFill>
                <a:latin typeface="Inter"/>
              </a:rPr>
              <a:t>Precision</a:t>
            </a:r>
            <a:r>
              <a:rPr lang="es-ES" sz="1600" b="0" i="0" u="none" dirty="0">
                <a:solidFill>
                  <a:srgbClr val="334155"/>
                </a:solidFill>
                <a:latin typeface="Inter"/>
              </a:rPr>
              <a:t>, </a:t>
            </a:r>
            <a:r>
              <a:rPr lang="es-ES" sz="1600" b="0" i="0" u="none" dirty="0" err="1">
                <a:solidFill>
                  <a:srgbClr val="334155"/>
                </a:solidFill>
                <a:latin typeface="Inter"/>
              </a:rPr>
              <a:t>Recall</a:t>
            </a:r>
            <a:r>
              <a:rPr lang="es-ES" sz="1600" b="0" i="0" u="none" dirty="0">
                <a:solidFill>
                  <a:srgbClr val="334155"/>
                </a:solidFill>
                <a:latin typeface="Inter"/>
              </a:rPr>
              <a:t>, F1-Score y Latencia. </a:t>
            </a:r>
            <a:r>
              <a:rPr lang="es-ES" sz="1600" b="0" i="0" u="none" dirty="0" err="1">
                <a:solidFill>
                  <a:srgbClr val="334155"/>
                </a:solidFill>
                <a:latin typeface="Inter"/>
              </a:rPr>
              <a:t>DistilBERT</a:t>
            </a:r>
            <a:r>
              <a:rPr lang="es-ES" sz="1600" b="0" i="0" u="none" dirty="0">
                <a:solidFill>
                  <a:srgbClr val="334155"/>
                </a:solidFill>
                <a:latin typeface="Inter"/>
              </a:rPr>
              <a:t> fue el modelo recomendado por su equilibrio entre precisión y velocidad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4372867"/>
            <a:ext cx="7963590" cy="730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lang="es-MX" sz="1600" b="1" i="0" u="none" dirty="0">
                <a:solidFill>
                  <a:srgbClr val="334155"/>
                </a:solidFill>
                <a:latin typeface="Inter"/>
              </a:rPr>
              <a:t>Integración</a:t>
            </a:r>
            <a:r>
              <a:rPr sz="1600" b="1" i="0" u="none" dirty="0">
                <a:solidFill>
                  <a:srgbClr val="334155"/>
                </a:solidFill>
                <a:latin typeface="Inter"/>
              </a:rPr>
              <a:t>: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lang="es-ES" sz="1600" b="0" i="0" u="none" dirty="0">
                <a:solidFill>
                  <a:srgbClr val="334155"/>
                </a:solidFill>
                <a:latin typeface="Inter"/>
              </a:rPr>
              <a:t>Desarrollado como un módulo independiente del proyecto Predictive </a:t>
            </a:r>
            <a:r>
              <a:rPr lang="es-ES" sz="1600" b="0" i="0" u="none" dirty="0" err="1">
                <a:solidFill>
                  <a:srgbClr val="334155"/>
                </a:solidFill>
                <a:latin typeface="Inter"/>
              </a:rPr>
              <a:t>Collection</a:t>
            </a:r>
            <a:r>
              <a:rPr lang="es-ES" sz="1600" b="0" i="0" u="none" dirty="0">
                <a:solidFill>
                  <a:srgbClr val="334155"/>
                </a:solidFill>
                <a:latin typeface="Inter"/>
              </a:rPr>
              <a:t>.</a:t>
            </a:r>
            <a:r>
              <a:rPr lang="es-ES" sz="1600" dirty="0">
                <a:solidFill>
                  <a:srgbClr val="334155"/>
                </a:solidFill>
                <a:latin typeface="Inter"/>
              </a:rPr>
              <a:t> En esta fase, la API implementa únicamente los modelos de clasificación de riesgo y regresión financiera.</a:t>
            </a:r>
            <a:endParaRPr sz="1600" b="0" i="0" u="none" dirty="0">
              <a:solidFill>
                <a:srgbClr val="334155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0560" y="1688901"/>
            <a:ext cx="85725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25"/>
              </a:lnSpc>
            </a:pPr>
            <a:r>
              <a:rPr sz="1500" b="1" i="0" u="none" dirty="0">
                <a:solidFill>
                  <a:srgbClr val="4F46E5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" y="2498985"/>
            <a:ext cx="85725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25"/>
              </a:lnSpc>
            </a:pPr>
            <a:r>
              <a:rPr sz="1500" b="1" i="0" u="none" dirty="0">
                <a:solidFill>
                  <a:srgbClr val="4F46E5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068860"/>
            <a:ext cx="80153" cy="271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25"/>
              </a:lnSpc>
            </a:pPr>
            <a:r>
              <a:rPr sz="1500" b="1" i="0" u="none" dirty="0">
                <a:solidFill>
                  <a:srgbClr val="4F46E5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353817"/>
            <a:ext cx="85725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25"/>
              </a:lnSpc>
            </a:pPr>
            <a:r>
              <a:rPr sz="1500" b="1" i="0" u="none">
                <a:solidFill>
                  <a:srgbClr val="4F46E5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33400"/>
            <a:ext cx="115214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MX" sz="2800" dirty="0"/>
              <a:t>Componente adicional: Análisis de Sentimientos (NLP)</a:t>
            </a:r>
            <a:endParaRPr sz="2550" b="1" i="0" u="none" dirty="0">
              <a:solidFill>
                <a:srgbClr val="0F172A"/>
              </a:solidFill>
              <a:latin typeface="Plus Jakarta Sans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BDFEAA95-B347-4A7D-A550-E12ADF45FC00}"/>
              </a:ext>
            </a:extLst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006307" y="1776842"/>
            <a:ext cx="5688013" cy="1969697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5FB70EDE-A13D-4FB6-97C1-970721F8485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32375"/>
          <a:stretch/>
        </p:blipFill>
        <p:spPr>
          <a:xfrm>
            <a:off x="4167450" y="5000159"/>
            <a:ext cx="7963590" cy="132444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7074987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105025"/>
            <a:ext cx="5257800" cy="286211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2105025"/>
            <a:ext cx="5257800" cy="28621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366366"/>
            <a:ext cx="486060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u="none" dirty="0" err="1">
                <a:solidFill>
                  <a:srgbClr val="4338CA"/>
                </a:solidFill>
                <a:latin typeface="Plus Jakarta Sans SemiBold"/>
              </a:rPr>
              <a:t>Evaluación</a:t>
            </a:r>
            <a:r>
              <a:rPr sz="2000" b="0" i="0" u="none" dirty="0">
                <a:solidFill>
                  <a:srgbClr val="4338CA"/>
                </a:solidFill>
                <a:latin typeface="Plus Jakarta Sans SemiBold"/>
              </a:rPr>
              <a:t> Estado Actual vs </a:t>
            </a:r>
            <a:r>
              <a:rPr sz="2000" b="0" i="0" u="none" dirty="0" err="1">
                <a:solidFill>
                  <a:srgbClr val="4338CA"/>
                </a:solidFill>
                <a:latin typeface="Plus Jakarta Sans SemiBold"/>
              </a:rPr>
              <a:t>Futuro</a:t>
            </a:r>
            <a:endParaRPr sz="2000" b="0" i="0" u="none" dirty="0">
              <a:solidFill>
                <a:srgbClr val="4338CA"/>
              </a:solidFill>
              <a:latin typeface="Plus Jakarta Sans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23925" y="3243262"/>
            <a:ext cx="462915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400" b="0" i="0" u="none" dirty="0">
                <a:solidFill>
                  <a:srgbClr val="334155"/>
                </a:solidFill>
                <a:latin typeface="Inter"/>
              </a:rPr>
              <a:t>• </a:t>
            </a:r>
            <a:r>
              <a:rPr sz="1400" b="1" i="0" u="none" dirty="0" err="1">
                <a:solidFill>
                  <a:srgbClr val="334155"/>
                </a:solidFill>
                <a:latin typeface="Inter"/>
              </a:rPr>
              <a:t>Infraestructura</a:t>
            </a:r>
            <a:r>
              <a:rPr sz="1400" b="1" i="0" u="none" dirty="0">
                <a:solidFill>
                  <a:srgbClr val="334155"/>
                </a:solidFill>
                <a:latin typeface="Inter"/>
              </a:rPr>
              <a:t> Actual: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Inter"/>
              </a:rPr>
              <a:t>Adecuada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para </a:t>
            </a:r>
            <a:r>
              <a:rPr sz="1400" b="0" i="0" u="none" dirty="0" err="1">
                <a:solidFill>
                  <a:srgbClr val="334155"/>
                </a:solidFill>
                <a:latin typeface="Inter"/>
              </a:rPr>
              <a:t>desarrollo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, </a:t>
            </a:r>
            <a:r>
              <a:rPr sz="1400" b="0" i="0" u="none" dirty="0" err="1">
                <a:solidFill>
                  <a:srgbClr val="334155"/>
                </a:solidFill>
                <a:latin typeface="Inter"/>
              </a:rPr>
              <a:t>validación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conceptual y </a:t>
            </a:r>
            <a:r>
              <a:rPr sz="1400" b="0" i="0" u="none" dirty="0" err="1">
                <a:solidFill>
                  <a:srgbClr val="334155"/>
                </a:solidFill>
                <a:latin typeface="Inter"/>
              </a:rPr>
              <a:t>pruebas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Inter"/>
              </a:rPr>
              <a:t>en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Render Free.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829942"/>
            <a:ext cx="4629150" cy="71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400" b="0" i="0" u="none" dirty="0">
                <a:solidFill>
                  <a:srgbClr val="334155"/>
                </a:solidFill>
                <a:latin typeface="Inter"/>
              </a:rPr>
              <a:t>• </a:t>
            </a:r>
            <a:r>
              <a:rPr sz="1400" b="1" i="0" u="none" dirty="0" err="1">
                <a:solidFill>
                  <a:srgbClr val="334155"/>
                </a:solidFill>
                <a:latin typeface="Inter"/>
              </a:rPr>
              <a:t>Infraestructura</a:t>
            </a:r>
            <a:r>
              <a:rPr sz="1400" b="1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400" b="1" i="0" u="none" dirty="0" err="1">
                <a:solidFill>
                  <a:srgbClr val="334155"/>
                </a:solidFill>
                <a:latin typeface="Inter"/>
              </a:rPr>
              <a:t>Propuesta</a:t>
            </a:r>
            <a:r>
              <a:rPr sz="1400" b="1" i="0" u="none" dirty="0">
                <a:solidFill>
                  <a:srgbClr val="334155"/>
                </a:solidFill>
                <a:latin typeface="Inter"/>
              </a:rPr>
              <a:t>: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Inter"/>
              </a:rPr>
              <a:t>Rediseño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Inter"/>
              </a:rPr>
              <a:t>productivo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batch + </a:t>
            </a:r>
            <a:r>
              <a:rPr sz="1400" b="0" i="0" u="none" dirty="0" err="1">
                <a:solidFill>
                  <a:srgbClr val="334155"/>
                </a:solidFill>
                <a:latin typeface="Inter"/>
              </a:rPr>
              <a:t>caché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que </a:t>
            </a:r>
            <a:r>
              <a:rPr sz="1400" b="0" i="0" u="none" dirty="0" err="1">
                <a:solidFill>
                  <a:srgbClr val="334155"/>
                </a:solidFill>
                <a:latin typeface="Inter"/>
              </a:rPr>
              <a:t>garantiza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Inter"/>
              </a:rPr>
              <a:t>alta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Inter"/>
              </a:rPr>
              <a:t>disponibilidad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, cero cold starts y total </a:t>
            </a:r>
            <a:r>
              <a:rPr sz="1400" b="0" i="0" u="none" dirty="0" err="1">
                <a:solidFill>
                  <a:srgbClr val="334155"/>
                </a:solidFill>
                <a:latin typeface="Inter"/>
              </a:rPr>
              <a:t>seguridad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2354460"/>
            <a:ext cx="486060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u="none" dirty="0" err="1">
                <a:solidFill>
                  <a:srgbClr val="4338CA"/>
                </a:solidFill>
                <a:latin typeface="Plus Jakarta Sans SemiBold"/>
              </a:rPr>
              <a:t>Decisión</a:t>
            </a:r>
            <a:r>
              <a:rPr sz="2000" b="0" i="0" u="none" dirty="0">
                <a:solidFill>
                  <a:srgbClr val="4338CA"/>
                </a:solidFill>
                <a:latin typeface="Plus Jakarta Sans SemiBold"/>
              </a:rPr>
              <a:t> de </a:t>
            </a:r>
            <a:r>
              <a:rPr sz="2000" b="0" i="0" u="none" dirty="0" err="1">
                <a:solidFill>
                  <a:srgbClr val="4338CA"/>
                </a:solidFill>
                <a:latin typeface="Plus Jakarta Sans SemiBold"/>
              </a:rPr>
              <a:t>Implementación</a:t>
            </a:r>
            <a:endParaRPr sz="2000" b="0" i="0" u="none" dirty="0">
              <a:solidFill>
                <a:srgbClr val="4338CA"/>
              </a:solidFill>
              <a:latin typeface="Plus Jakarta Sans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38925" y="3243262"/>
            <a:ext cx="4629150" cy="71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400" b="0" i="0" u="none" dirty="0">
                <a:solidFill>
                  <a:srgbClr val="334155"/>
                </a:solidFill>
                <a:latin typeface="Inter"/>
              </a:rPr>
              <a:t>• </a:t>
            </a:r>
            <a:r>
              <a:rPr sz="1400" b="1" i="0" u="none" dirty="0" err="1">
                <a:solidFill>
                  <a:srgbClr val="334155"/>
                </a:solidFill>
                <a:latin typeface="Inter"/>
              </a:rPr>
              <a:t>Recomendación</a:t>
            </a:r>
            <a:r>
              <a:rPr sz="1400" b="1" i="0" u="none" dirty="0">
                <a:solidFill>
                  <a:srgbClr val="334155"/>
                </a:solidFill>
                <a:latin typeface="Inter"/>
              </a:rPr>
              <a:t> Principal: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Inter"/>
              </a:rPr>
              <a:t>Adoptar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400" b="1" i="0" u="none" dirty="0">
                <a:solidFill>
                  <a:srgbClr val="334155"/>
                </a:solidFill>
                <a:latin typeface="Inter"/>
              </a:rPr>
              <a:t>AWS </a:t>
            </a:r>
            <a:r>
              <a:rPr sz="1400" b="1" i="0" u="none" dirty="0" err="1">
                <a:solidFill>
                  <a:srgbClr val="334155"/>
                </a:solidFill>
                <a:latin typeface="Inter"/>
              </a:rPr>
              <a:t>Optimizado</a:t>
            </a:r>
            <a:r>
              <a:rPr sz="1400" b="1" i="0" u="none" dirty="0">
                <a:solidFill>
                  <a:srgbClr val="334155"/>
                </a:solidFill>
                <a:latin typeface="Inter"/>
              </a:rPr>
              <a:t> (137</a:t>
            </a:r>
            <a:r>
              <a:rPr lang="es-MX" sz="1400" b="1" dirty="0">
                <a:solidFill>
                  <a:srgbClr val="334155"/>
                </a:solidFill>
                <a:latin typeface="Inter"/>
              </a:rPr>
              <a:t>.</a:t>
            </a:r>
            <a:r>
              <a:rPr sz="1400" b="1" i="0" u="none" dirty="0">
                <a:solidFill>
                  <a:srgbClr val="334155"/>
                </a:solidFill>
                <a:latin typeface="Inter"/>
              </a:rPr>
              <a:t>31 USD / </a:t>
            </a:r>
            <a:r>
              <a:rPr sz="1400" b="1" i="0" u="none" dirty="0" err="1">
                <a:solidFill>
                  <a:srgbClr val="334155"/>
                </a:solidFill>
                <a:latin typeface="Inter"/>
              </a:rPr>
              <a:t>mes</a:t>
            </a:r>
            <a:r>
              <a:rPr sz="1400" b="1" i="0" u="none" dirty="0">
                <a:solidFill>
                  <a:srgbClr val="334155"/>
                </a:solidFill>
                <a:latin typeface="Inter"/>
              </a:rPr>
              <a:t>)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por </a:t>
            </a:r>
            <a:r>
              <a:rPr sz="1400" b="0" i="0" u="none" dirty="0" err="1">
                <a:solidFill>
                  <a:srgbClr val="334155"/>
                </a:solidFill>
                <a:latin typeface="Inter"/>
              </a:rPr>
              <a:t>su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Inter"/>
              </a:rPr>
              <a:t>equilibrio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Inter"/>
              </a:rPr>
              <a:t>costo-beneficio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y </a:t>
            </a:r>
            <a:r>
              <a:rPr sz="1400" b="0" i="0" u="none" dirty="0" err="1">
                <a:solidFill>
                  <a:srgbClr val="334155"/>
                </a:solidFill>
                <a:latin typeface="Inter"/>
              </a:rPr>
              <a:t>reducción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del 55% de </a:t>
            </a:r>
            <a:r>
              <a:rPr sz="1400" b="0" i="0" u="none" dirty="0" err="1">
                <a:solidFill>
                  <a:srgbClr val="334155"/>
                </a:solidFill>
                <a:latin typeface="Inter"/>
              </a:rPr>
              <a:t>gasto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cloud.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4066133"/>
            <a:ext cx="462915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400" b="0" i="0" u="none">
                <a:solidFill>
                  <a:srgbClr val="334155"/>
                </a:solidFill>
                <a:latin typeface="Inter"/>
              </a:rPr>
              <a:t>• </a:t>
            </a:r>
            <a:r>
              <a:rPr sz="1400" b="1" i="0" u="none">
                <a:solidFill>
                  <a:srgbClr val="334155"/>
                </a:solidFill>
                <a:latin typeface="Inter"/>
              </a:rPr>
              <a:t>Gobernanza Completa:</a:t>
            </a:r>
            <a:r>
              <a:rPr sz="1400" b="0" i="0" u="none">
                <a:solidFill>
                  <a:srgbClr val="334155"/>
                </a:solidFill>
                <a:latin typeface="Inter"/>
              </a:rPr>
              <a:t> Garantía de ética, transparencia y cumplimiento pleno con GDPR, LFPDPPP y EU AI Act.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533400"/>
            <a:ext cx="1152144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Conclusiones y Recomendación Final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 rotWithShape="1">
          <a:blip r:embed="rId3"/>
          <a:srcRect l="4463" r="24681"/>
          <a:stretch/>
        </p:blipFill>
        <p:spPr>
          <a:xfrm>
            <a:off x="3714750" y="2420242"/>
            <a:ext cx="3705226" cy="438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5776" y="495300"/>
            <a:ext cx="2140297" cy="276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35279" y="723900"/>
            <a:ext cx="1152144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0F172A"/>
                </a:solidFill>
                <a:latin typeface="Plus Jakarta Sans"/>
              </a:rPr>
              <a:t>¿Preguntas o Comentarios?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638300"/>
            <a:ext cx="10972800" cy="3247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57"/>
              </a:lnSpc>
            </a:pPr>
            <a:r>
              <a:rPr sz="1650" b="0" i="0" u="none">
                <a:solidFill>
                  <a:srgbClr val="475569"/>
                </a:solidFill>
                <a:latin typeface="Inter"/>
              </a:rPr>
              <a:t>Predictive Collection: Machine Learning Aplicado a Cuentas por Cobrar &amp; Escalabilidad Nube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5712" y="2563117"/>
            <a:ext cx="190500" cy="152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1492</Words>
  <Application>Microsoft Office PowerPoint</Application>
  <PresentationFormat>Panorámica</PresentationFormat>
  <Paragraphs>178</Paragraphs>
  <Slides>23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32" baseType="lpstr">
      <vt:lpstr>Arial</vt:lpstr>
      <vt:lpstr>Calibri</vt:lpstr>
      <vt:lpstr>Inter</vt:lpstr>
      <vt:lpstr>Inter SemiBold</vt:lpstr>
      <vt:lpstr>Plus Jakarta Sans</vt:lpstr>
      <vt:lpstr>Plus Jakarta Sans ExtraBold</vt:lpstr>
      <vt:lpstr>Plus Jakarta Sans SemiBold</vt:lpstr>
      <vt:lpstr>Symbol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Maria Fernanda Olvera Pegueros</cp:lastModifiedBy>
  <cp:revision>24</cp:revision>
  <dcterms:created xsi:type="dcterms:W3CDTF">2013-01-27T09:14:16Z</dcterms:created>
  <dcterms:modified xsi:type="dcterms:W3CDTF">2026-08-02T22:33:00Z</dcterms:modified>
  <cp:category/>
</cp:coreProperties>
</file>